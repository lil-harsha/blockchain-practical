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85" r:id="rId9"/>
    <p:sldId id="288" r:id="rId10"/>
    <p:sldId id="287" r:id="rId11"/>
    <p:sldId id="286" r:id="rId12"/>
    <p:sldId id="272" r:id="rId13"/>
    <p:sldId id="289" r:id="rId14"/>
    <p:sldId id="273" r:id="rId15"/>
    <p:sldId id="274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80" r:id="rId39"/>
    <p:sldId id="281" r:id="rId40"/>
    <p:sldId id="28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86"/>
    <p:restoredTop sz="94631"/>
  </p:normalViewPr>
  <p:slideViewPr>
    <p:cSldViewPr snapToGrid="0" snapToObjects="1">
      <p:cViewPr varScale="1">
        <p:scale>
          <a:sx n="96" d="100"/>
          <a:sy n="96" d="100"/>
        </p:scale>
        <p:origin x="200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FF394-C6B9-104B-A66A-0912453192B6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768FE-F478-8044-BA44-77F176A5B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63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768FE-F478-8044-BA44-77F176A5BBEA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9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C32D-CD0A-643F-8978-DE61F301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7AF7F-44B2-A6E3-C584-3B4A5F90E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8E840-75AC-0D38-E2D3-58C3EE37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A4F88-0F9A-C90F-1598-751B7C9B0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46418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0CAB-AA8D-344C-395D-E2541C58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EAA04-EC56-641E-66FA-174B5BECF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C86D4-31CC-4916-6CA2-E60DC1E86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08E1F-0B22-758F-3D74-229B3790A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3019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4DE8-B35F-1A9D-B369-BB9DA9AF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3B67E-CBF2-A076-069F-A5600DF14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0D108-D58E-49F5-A900-3364DEEF9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latin typeface="Cambri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623C-8026-52B6-55BC-0CE53DDDB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58473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61A1-71C1-6846-907C-A3AC51554B9C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787B-2700-FD46-ACA7-2565D14FABBC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52036-43AE-D64C-A6F2-4A73AC48CA34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F16DC-4D11-D64F-939A-C2BEB7B687FD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35960-2CBE-4546-A713-04F7E39C30D4}" type="datetime1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6EA82-A530-D641-9C28-222D682F38B1}" type="datetime1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6D904-A48C-EF4A-9AB8-B5CD5A6A30A4}" type="datetime1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0F85F-81C3-9D46-BA5C-CD18A669FAB2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EC4B-DE96-4F4A-AEE4-B9B369468896}" type="datetime1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8D664-4C15-6F42-B9BC-088AFE0CBE05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916B-ED47-4D4A-877D-0F8AF3661277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B86D5-91E6-DC4E-9D8E-471AEAAE99B5}" type="datetime1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27622" y="548640"/>
            <a:ext cx="45367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Dissertation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2872" y="1074420"/>
            <a:ext cx="6062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11840" cy="150386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588649"/>
            <a:ext cx="10546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2800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DETECTION TO CONTAINMENT:
MITIGATING EXPLOITS IN SMART CONTRACTS,
ORACLE SYSTEMS, AND CROSS-CHAIN BRIDGES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298" y="3446966"/>
            <a:ext cx="3762184" cy="17383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latin typeface="Open Sans"/>
              </a:defRPr>
            </a:pPr>
            <a:r>
              <a:rPr sz="1400" dirty="0">
                <a:latin typeface="Open Sans"/>
              </a:rPr>
              <a:t>Supervisors: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Open Sans"/>
              </a:defRPr>
            </a:pPr>
            <a:r>
              <a:rPr lang="en-US" sz="1400" dirty="0">
                <a:latin typeface="Open Sans"/>
              </a:rPr>
              <a:t>D</a:t>
            </a:r>
            <a:r>
              <a:rPr sz="1400" dirty="0">
                <a:latin typeface="Open Sans"/>
              </a:rPr>
              <a:t>r. Deepak Kumar Mishra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Assistant Professor, Computer Science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College of Vocational Studies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Open Sans"/>
              </a:defRPr>
            </a:pPr>
            <a:r>
              <a:rPr sz="1400" dirty="0">
                <a:latin typeface="Open Sans"/>
              </a:rPr>
              <a:t>Dr. Jatin Sharma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Assistant Professor, Computer Engineering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Faculty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2836" y="3446966"/>
            <a:ext cx="2709396" cy="15013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latin typeface="Open Sans"/>
              </a:defRPr>
            </a:pPr>
            <a:r>
              <a:rPr sz="1400" dirty="0">
                <a:latin typeface="Open Sans"/>
              </a:rPr>
              <a:t>Presented by: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latin typeface="Open Sans"/>
              </a:defRPr>
            </a:pPr>
            <a:r>
              <a:rPr sz="1400" dirty="0">
                <a:latin typeface="Open Sans"/>
              </a:rPr>
              <a:t>Harshit Nishad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Roll No: 22013570019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lang="en-US" sz="1400" dirty="0">
                <a:latin typeface="Open Sans"/>
              </a:rPr>
              <a:t>Bachelor of Computer Science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lang="en-US" sz="1400" dirty="0">
                <a:latin typeface="Open Sans"/>
              </a:rPr>
              <a:t>(Honours with Research)</a:t>
            </a:r>
            <a:endParaRPr sz="1400" dirty="0">
              <a:latin typeface="Open Sans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>
                <a:latin typeface="Open Sans"/>
              </a:defRPr>
            </a:pPr>
            <a:r>
              <a:rPr sz="1400" dirty="0">
                <a:latin typeface="Open Sans"/>
              </a:rPr>
              <a:t>Semester VII</a:t>
            </a:r>
            <a:r>
              <a:rPr lang="en-US" sz="1400" dirty="0">
                <a:latin typeface="Open Sans"/>
              </a:rPr>
              <a:t>I</a:t>
            </a:r>
            <a:endParaRPr sz="1400" dirty="0">
              <a:latin typeface="Open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08616" y="5293697"/>
            <a:ext cx="477476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latin typeface="Open Sans"/>
              </a:defRPr>
            </a:pPr>
            <a:r>
              <a:rPr sz="1600" dirty="0">
                <a:latin typeface="Open Sans"/>
              </a:rPr>
              <a:t>Department of Computer Science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0">
                <a:latin typeface="Open Sans"/>
              </a:defRPr>
            </a:pPr>
            <a:r>
              <a:rPr sz="1600" dirty="0">
                <a:latin typeface="Open Sans"/>
              </a:rPr>
              <a:t>College of Vocational Studies, University of Delhi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>
                <a:latin typeface="Open Sans"/>
              </a:defRPr>
            </a:pPr>
            <a:r>
              <a:rPr sz="1600" dirty="0">
                <a:latin typeface="Open Sans"/>
              </a:rPr>
              <a:t>2025–2026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1</a:t>
            </a:r>
          </a:p>
        </p:txBody>
      </p:sp>
      <p:pic>
        <p:nvPicPr>
          <p:cNvPr id="15" name="Picture 14" descr="A logo of an elephant and a book&#10;&#10;AI-generated content may be incorrect.">
            <a:extLst>
              <a:ext uri="{FF2B5EF4-FFF2-40B4-BE49-F238E27FC236}">
                <a16:creationId xmlns:a16="http://schemas.microsoft.com/office/drawing/2014/main" id="{64E7CA67-282F-7AF1-C06D-BAC775B1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747" y="3429000"/>
            <a:ext cx="1662887" cy="15631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E70F29-37DB-3F5F-F2C5-0AB05548B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3625" y1="54625" x2="23625" y2="54625"/>
                        <a14:foregroundMark x1="76500" y1="55063" x2="76500" y2="55063"/>
                        <a14:foregroundMark x1="50500" y1="48063" x2="50500" y2="48063"/>
                        <a14:foregroundMark x1="48313" y1="60563" x2="48313" y2="60563"/>
                        <a14:foregroundMark x1="39563" y1="57063" x2="39563" y2="57063"/>
                        <a14:foregroundMark x1="61000" y1="57063" x2="61000" y2="57063"/>
                        <a14:foregroundMark x1="47250" y1="87000" x2="47250" y2="87000"/>
                        <a14:foregroundMark x1="53375" y1="84813" x2="53375" y2="8481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31995" y="240153"/>
            <a:ext cx="1307961" cy="1307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2011E7-0A46-75EC-6DA5-F70D8F31607E}"/>
              </a:ext>
            </a:extLst>
          </p:cNvPr>
          <p:cNvSpPr txBox="1"/>
          <p:nvPr/>
        </p:nvSpPr>
        <p:spPr>
          <a:xfrm>
            <a:off x="4495800" y="-1415143"/>
            <a:ext cx="184731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4757" y="411480"/>
            <a:ext cx="15824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latin typeface="Helvetica Neue"/>
              </a:defRPr>
            </a:pPr>
            <a:r>
              <a:rPr sz="3200" b="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669" y="1239324"/>
            <a:ext cx="9997440" cy="811241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1.   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2.   Motivation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3.   Literature Review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4"/>
            </a:pPr>
            <a:r>
              <a:rPr lang="en-US" sz="2400" dirty="0">
                <a:latin typeface="Open Sans"/>
              </a:rPr>
              <a:t>Research Gaps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4"/>
            </a:pPr>
            <a:r>
              <a:rPr lang="en-US" sz="2400" dirty="0">
                <a:latin typeface="Open Sans"/>
              </a:rPr>
              <a:t>Research Questions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6.   Research Objectives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r>
              <a:rPr lang="en-US" sz="2400" dirty="0">
                <a:latin typeface="Open Sans"/>
              </a:rPr>
              <a:t>Methodology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r>
              <a:rPr lang="en-US" sz="2400" dirty="0">
                <a:latin typeface="Open Sans"/>
              </a:rPr>
              <a:t>Case Studies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 startAt="7"/>
            </a:pPr>
            <a:endParaRPr lang="en-US" sz="2400" dirty="0">
              <a:latin typeface="Open Sa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9.   Results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10.   Boundary Cases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11. Discussion: Authority Gap and Limitations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12. Conclusion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13. Future Work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14. Thesis </a:t>
            </a:r>
            <a:r>
              <a:rPr lang="en-US" sz="2400" dirty="0" err="1">
                <a:latin typeface="Open Sans"/>
              </a:rPr>
              <a:t>Organisation</a:t>
            </a:r>
            <a:endParaRPr lang="en-US" sz="2400" dirty="0">
              <a:latin typeface="Open Sa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Open Sans"/>
              </a:rPr>
              <a:t>15.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96729" y="411480"/>
            <a:ext cx="63985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1. Introduction (1/3)</a:t>
            </a:r>
            <a:r>
              <a:rPr lang="en-US" dirty="0"/>
              <a:t>: Blockchain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79"/>
            <a:ext cx="10205654" cy="461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Blockchain</a:t>
            </a:r>
            <a:r>
              <a:rPr lang="en-US" dirty="0">
                <a:latin typeface="Open Sans"/>
              </a:rPr>
              <a:t> is a distributed, append-only ledger maintained by a peer-to-peer network. Each block holds a cryptographic hash of the previous block, which makes tampering with historical data computationally infeasible.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Smart contracts are programs deployed on the ledger. Once deployed, their code executes deterministically against on-chain inputs without a central operator.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Two reference architectures cover the bulk of public deployment: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Ethereum and EVM-compatible chains </a:t>
            </a:r>
            <a:r>
              <a:rPr lang="en-US" dirty="0">
                <a:latin typeface="Open Sans"/>
              </a:rPr>
              <a:t>(BSC, Polygon, Avalanche, </a:t>
            </a:r>
            <a:r>
              <a:rPr lang="en-US" dirty="0" err="1">
                <a:latin typeface="Open Sans"/>
              </a:rPr>
              <a:t>Arbitrum</a:t>
            </a:r>
            <a:r>
              <a:rPr lang="en-US" dirty="0">
                <a:latin typeface="Open Sans"/>
              </a:rPr>
              <a:t>) run Solidity contracts with global state.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Solana</a:t>
            </a:r>
            <a:r>
              <a:rPr lang="en-US" dirty="0">
                <a:latin typeface="Open Sans"/>
              </a:rPr>
              <a:t> uses a programs-and-accounts model with a different transaction format.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The on-chain transaction record is public, ordered, and </a:t>
            </a:r>
            <a:r>
              <a:rPr lang="en-US" dirty="0" err="1">
                <a:latin typeface="Open Sans"/>
              </a:rPr>
              <a:t>replayable</a:t>
            </a:r>
            <a:r>
              <a:rPr lang="en-US" dirty="0">
                <a:latin typeface="Open Sans"/>
              </a:rPr>
              <a:t>. That property is what makes empirical reconstruction of attacks possible in this 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5087" y="411480"/>
            <a:ext cx="85818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1. Introduction (2/3)</a:t>
            </a:r>
            <a:r>
              <a:rPr lang="en-US" dirty="0"/>
              <a:t>: Decentralized Finance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19"/>
            <a:ext cx="10468356" cy="420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DeFi rebuilds lending, trading, derivatives, and asset issuance as smart contracts.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Three architectural surfaces matter for this thesis: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Contract surface : protocol contracts that hold collateral, mint or burn tokens, and route value.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Oracle surface : price-feed contracts (</a:t>
            </a:r>
            <a:r>
              <a:rPr lang="en-US" dirty="0" err="1">
                <a:latin typeface="Open Sans"/>
              </a:rPr>
              <a:t>Pyth</a:t>
            </a:r>
            <a:r>
              <a:rPr lang="en-US" dirty="0">
                <a:latin typeface="Open Sans"/>
              </a:rPr>
              <a:t>, </a:t>
            </a:r>
            <a:r>
              <a:rPr lang="en-US" dirty="0" err="1">
                <a:latin typeface="Open Sans"/>
              </a:rPr>
              <a:t>Chainlink</a:t>
            </a:r>
            <a:r>
              <a:rPr lang="en-US" dirty="0">
                <a:latin typeface="Open Sans"/>
              </a:rPr>
              <a:t>, Keep3r TWAP) that bring off-chain reference prices on-chain.</a:t>
            </a:r>
          </a:p>
          <a:p>
            <a:pPr marL="6858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Bridge surface : cross-chain messaging contracts (Wormhole, Nomad, </a:t>
            </a:r>
            <a:r>
              <a:rPr lang="en-US" dirty="0" err="1">
                <a:latin typeface="Open Sans"/>
              </a:rPr>
              <a:t>PolyNetwork</a:t>
            </a:r>
            <a:r>
              <a:rPr lang="en-US" dirty="0">
                <a:latin typeface="Open Sans"/>
              </a:rPr>
              <a:t>, </a:t>
            </a:r>
            <a:r>
              <a:rPr lang="en-US" dirty="0" err="1">
                <a:latin typeface="Open Sans"/>
              </a:rPr>
              <a:t>THORChain</a:t>
            </a:r>
            <a:r>
              <a:rPr lang="en-US" dirty="0">
                <a:latin typeface="Open Sans"/>
              </a:rPr>
              <a:t> Bifrost) that </a:t>
            </a:r>
            <a:r>
              <a:rPr lang="en-US" dirty="0" err="1">
                <a:latin typeface="Open Sans"/>
              </a:rPr>
              <a:t>authorise</a:t>
            </a:r>
            <a:r>
              <a:rPr lang="en-US" dirty="0">
                <a:latin typeface="Open Sans"/>
              </a:rPr>
              <a:t> value transfer between chains.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Real attacks routinely thread across more than one surface. Defender systems usually monitor only one surface at a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25632"/>
            <a:ext cx="11679936" cy="640080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71855" y="411480"/>
            <a:ext cx="7848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1. Introduction (3/3)</a:t>
            </a:r>
            <a:r>
              <a:rPr lang="en-US" dirty="0"/>
              <a:t>: Cross-surface Gap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942" y="1535244"/>
            <a:ext cx="10834116" cy="4619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latin typeface="Open Sans"/>
              </a:rPr>
              <a:t>Mango Markets 2022 as the canonical example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October 2022, </a:t>
            </a:r>
            <a:r>
              <a:rPr lang="en-US" dirty="0">
                <a:latin typeface="Open Sans"/>
              </a:rPr>
              <a:t>an attacker spent roughly ten million dollars to push the spot price of MNGO from $0.03 to over $0.91 across three exchanges feeding the </a:t>
            </a:r>
            <a:r>
              <a:rPr lang="en-US" dirty="0" err="1">
                <a:latin typeface="Open Sans"/>
              </a:rPr>
              <a:t>Pyth</a:t>
            </a:r>
            <a:r>
              <a:rPr lang="en-US" dirty="0">
                <a:latin typeface="Open Sans"/>
              </a:rPr>
              <a:t> oracle [9].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The inflated price flowed into Mango Markets within seconds. The attacker borrowed against the new collateral and drained $117 million.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Open Sans"/>
              </a:rPr>
              <a:t>Each component behaved as designed.</a:t>
            </a:r>
            <a:r>
              <a:rPr lang="en-US" dirty="0">
                <a:latin typeface="Open Sans"/>
              </a:rPr>
              <a:t> The Mango contract correctly read its oracle. The oracle correctly aggregated its inputs. Each input correctly reported the price its exchange was quoting.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Open Sans"/>
              </a:rPr>
              <a:t>The exploit was made possible by cross-surface correlation that no single component could check in isolation. Whether detection requires that same correlation is a separate empirical question. </a:t>
            </a:r>
            <a:r>
              <a:rPr lang="en-US" b="1" dirty="0">
                <a:latin typeface="Open Sans"/>
              </a:rPr>
              <a:t>Case Study 1 </a:t>
            </a:r>
            <a:r>
              <a:rPr lang="en-US" dirty="0">
                <a:latin typeface="Open Sans"/>
              </a:rPr>
              <a:t>returns to this point.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CCF15-113F-956E-2B7B-AF754A8E7673}"/>
              </a:ext>
            </a:extLst>
          </p:cNvPr>
          <p:cNvSpPr txBox="1"/>
          <p:nvPr/>
        </p:nvSpPr>
        <p:spPr>
          <a:xfrm>
            <a:off x="8123856" y="6262626"/>
            <a:ext cx="3441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24079" y="411480"/>
            <a:ext cx="7943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2. Motivation (1/2): Scale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883" y="1336119"/>
            <a:ext cx="631055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Between 2020 and 2023</a:t>
            </a:r>
            <a:r>
              <a:rPr lang="en-US" dirty="0">
                <a:latin typeface="Open Sans"/>
              </a:rPr>
              <a:t>, DeFi protocols lost more than $5B to on-chain exploits.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Loss distribution by category: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Bridge</a:t>
            </a:r>
            <a:r>
              <a:rPr lang="en-US" dirty="0">
                <a:latin typeface="Open Sans"/>
              </a:rPr>
              <a:t>:  $2.6B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Off-chain key compromise</a:t>
            </a:r>
            <a:r>
              <a:rPr lang="en-US" dirty="0">
                <a:latin typeface="Open Sans"/>
              </a:rPr>
              <a:t>:  $1.5B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Contract logic</a:t>
            </a:r>
            <a:r>
              <a:rPr lang="en-US" dirty="0">
                <a:latin typeface="Open Sans"/>
              </a:rPr>
              <a:t>:  $1.0B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b="1" dirty="0">
                <a:latin typeface="Open Sans"/>
              </a:rPr>
              <a:t>Oracle</a:t>
            </a:r>
            <a:r>
              <a:rPr lang="en-US" dirty="0">
                <a:latin typeface="Open Sans"/>
              </a:rPr>
              <a:t>:  $0.4B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Largest events thread across surfaces</a:t>
            </a:r>
            <a:r>
              <a:rPr lang="en-US" dirty="0">
                <a:latin typeface="Open Sans"/>
              </a:rPr>
              <a:t>: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Wormhole 2022, $320M, forged guardian signature [10]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Nomad 2022, $190M, message validation [11]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</a:t>
            </a:r>
            <a:r>
              <a:rPr lang="en-US" dirty="0" err="1">
                <a:latin typeface="Open Sans"/>
              </a:rPr>
              <a:t>PolyNetwork</a:t>
            </a:r>
            <a:r>
              <a:rPr lang="en-US" dirty="0">
                <a:latin typeface="Open Sans"/>
              </a:rPr>
              <a:t> 2021, $611M, keeper replacement [16]</a:t>
            </a:r>
          </a:p>
          <a:p>
            <a:pPr algn="just"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Inverse Finance 2022, $15M, oracle manipulation [14]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7A52D-A613-C0A2-AEDD-7D9C2282240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99478" y="1458038"/>
            <a:ext cx="4741418" cy="29188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5A3C15-DE76-F2DB-E484-0EB34D99296D}"/>
              </a:ext>
            </a:extLst>
          </p:cNvPr>
          <p:cNvSpPr txBox="1"/>
          <p:nvPr/>
        </p:nvSpPr>
        <p:spPr>
          <a:xfrm>
            <a:off x="7542572" y="4495799"/>
            <a:ext cx="38523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1.1: Reported DeFi exploit losses 2020–2023 by attack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4F4D-0738-348B-3F0E-12F128A64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76351D-2684-D286-C449-EF3BA6B2B0A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2C5D95-EDE6-4541-2346-600F34556A2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22452-F954-DAAF-BD0E-0EEF0E6E625B}"/>
              </a:ext>
            </a:extLst>
          </p:cNvPr>
          <p:cNvSpPr txBox="1"/>
          <p:nvPr/>
        </p:nvSpPr>
        <p:spPr>
          <a:xfrm>
            <a:off x="2171688" y="411480"/>
            <a:ext cx="7848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2. Motivation (2/2): What Defenders See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57068-10A2-EF52-100A-F3370C0F0D5F}"/>
              </a:ext>
            </a:extLst>
          </p:cNvPr>
          <p:cNvSpPr txBox="1"/>
          <p:nvPr/>
        </p:nvSpPr>
        <p:spPr>
          <a:xfrm>
            <a:off x="11291316" y="6249924"/>
            <a:ext cx="2728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03D81-C99D-5BAA-437F-2051CCA9EFA0}"/>
              </a:ext>
            </a:extLst>
          </p:cNvPr>
          <p:cNvSpPr txBox="1"/>
          <p:nvPr/>
        </p:nvSpPr>
        <p:spPr>
          <a:xfrm>
            <a:off x="427351" y="1432588"/>
            <a:ext cx="6310550" cy="399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Existing detectors are surface-specific.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Oracle deviation detectors watch oracle prices.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Taint </a:t>
            </a:r>
            <a:r>
              <a:rPr lang="en-US" dirty="0" err="1">
                <a:latin typeface="Open Sans"/>
              </a:rPr>
              <a:t>analysers</a:t>
            </a:r>
            <a:r>
              <a:rPr lang="en-US" dirty="0">
                <a:latin typeface="Open Sans"/>
              </a:rPr>
              <a:t> watch contract flows.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  – Bridge anomaly detectors watch bridge events.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Each tool is competent on its own surface</a:t>
            </a:r>
            <a:r>
              <a:rPr lang="en-US" dirty="0">
                <a:latin typeface="Open Sans"/>
              </a:rPr>
              <a:t> and structurally blind to cross-surface context.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</a:t>
            </a:r>
            <a:r>
              <a:rPr lang="en-US" b="1" dirty="0">
                <a:latin typeface="Open Sans"/>
              </a:rPr>
              <a:t>Asymmetry:</a:t>
            </a:r>
            <a:r>
              <a:rPr lang="en-US" dirty="0">
                <a:latin typeface="Open Sans"/>
              </a:rPr>
              <a:t> Attacker scope is cross-surface. Defender scope is single-surface.</a:t>
            </a:r>
          </a:p>
          <a:p>
            <a:pPr algn="just">
              <a:lnSpc>
                <a:spcPct val="150000"/>
              </a:lnSpc>
              <a:defRPr sz="1900" b="0" i="0">
                <a:latin typeface="Open Sans"/>
              </a:defRPr>
            </a:pPr>
            <a:r>
              <a:rPr lang="en-US" dirty="0">
                <a:latin typeface="Open Sans"/>
              </a:rPr>
              <a:t>• This thesis targets that asymmetry directly.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9AD4-36C8-E871-6D7B-3366ECB603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37901" y="1211771"/>
            <a:ext cx="5175758" cy="40824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405679-A455-E29E-A125-88D9826AD497}"/>
              </a:ext>
            </a:extLst>
          </p:cNvPr>
          <p:cNvSpPr txBox="1"/>
          <p:nvPr/>
        </p:nvSpPr>
        <p:spPr>
          <a:xfrm>
            <a:off x="7012807" y="5440245"/>
            <a:ext cx="49008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"/>
              </a:rPr>
              <a:t>Figure 1.2: Thesis coverage (Layers A–D) against the adjacent single-surface and off-chain landscape.</a:t>
            </a:r>
          </a:p>
          <a:p>
            <a:endParaRPr lang="en-US" sz="9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64781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1376"/>
            <a:ext cx="10972800" cy="529376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3. Literature Review (1/4): Foundational Surveys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pPr algn="l"/>
            <a:r>
              <a:rPr sz="1600" b="1" dirty="0">
                <a:latin typeface=""/>
              </a:rPr>
              <a:t>Zhou et al. (2023) - </a:t>
            </a:r>
            <a:r>
              <a:rPr sz="1600" b="1" dirty="0" err="1">
                <a:latin typeface=""/>
              </a:rPr>
              <a:t>SoK</a:t>
            </a:r>
            <a:r>
              <a:rPr sz="1600" b="1" dirty="0">
                <a:latin typeface=""/>
              </a:rPr>
              <a:t>: Decentralized Finance (DeFi) Attacks  </a:t>
            </a:r>
            <a:r>
              <a:rPr lang="en-US" sz="1600" b="1" dirty="0">
                <a:latin typeface=""/>
              </a:rPr>
              <a:t>[1]</a:t>
            </a:r>
            <a:endParaRPr sz="1600" b="1" dirty="0">
              <a:latin typeface="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94973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Catalogue of 181 DeFi incidents under the P/A/O taxonomy.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Establishes the cross-surface attack pattern as a first-class object of study.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Anchor reference for incident-level granularity in DeFi exploit research.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Incident-level survey, not a runtime detection system.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No quantitative cross-domain detection metric proposed.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Bridge surface coverage is narrative, not rule-based.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7680" y="6112614"/>
            <a:ext cx="4817729" cy="198965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pPr algn="l"/>
            <a:r>
              <a:rPr sz="1133" i="1" dirty="0">
                <a:solidFill>
                  <a:srgbClr val="6E6E6E"/>
                </a:solidFill>
                <a:latin typeface="Cambria"/>
              </a:rPr>
              <a:t>[1]  L. Zhou et al., '</a:t>
            </a:r>
            <a:r>
              <a:rPr sz="1133" i="1" dirty="0" err="1">
                <a:solidFill>
                  <a:srgbClr val="6E6E6E"/>
                </a:solidFill>
                <a:latin typeface="Cambria"/>
              </a:rPr>
              <a:t>SoK</a:t>
            </a:r>
            <a:r>
              <a:rPr sz="1133" i="1" dirty="0">
                <a:solidFill>
                  <a:srgbClr val="6E6E6E"/>
                </a:solidFill>
                <a:latin typeface="Cambria"/>
              </a:rPr>
              <a:t>: Decentralized Finance (DeFi) Attacks,' IEEE S&amp;P, 2023.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pPr algn="l"/>
            <a:r>
              <a:rPr sz="1600" b="1" dirty="0">
                <a:latin typeface=""/>
              </a:rPr>
              <a:t>Li et al. (2025) - Cross-Chain Bridge Security: Survey  [2]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128659"/>
              </p:ext>
            </p:extLst>
          </p:nvPr>
        </p:nvGraphicFramePr>
        <p:xfrm>
          <a:off x="487680" y="4114797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Four-class bridge vulnerability taxonomy (signature forgery, message validation, replay, committee attestation).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Structured threat model for cross-chain bridges across trust architectures.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Foundation for the Layer D rule set CR-B1 to CR-B4 in this thesis.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Architecture-centric; no calibrated on-chain rule set for the four classes.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Payload-embedding and value-handling anomaly are not isolated as distinct classes.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sz="1300" dirty="0">
                          <a:solidFill>
                            <a:srgbClr val="1F1F1F"/>
                          </a:solidFill>
                          <a:latin typeface=""/>
                        </a:rPr>
                        <a:t>Operational containment workflow is out of scope.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7680" y="6360008"/>
            <a:ext cx="7050713" cy="198965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pPr algn="l"/>
            <a:r>
              <a:rPr sz="1133" i="1" dirty="0">
                <a:solidFill>
                  <a:srgbClr val="6E6E6E"/>
                </a:solidFill>
                <a:latin typeface="Cambria"/>
              </a:rPr>
              <a:t>[2]  N. Li et al., 'Blockchain Cross-Chain Bridge Security: Challenges, Solutions, and Future Outlook,' ACM DLT, 2025.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9BF7E8-4015-9EFA-C430-5DA9D7E4C8E8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AE491-DE26-1AD9-EE51-D76A37D7EDF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27BF0-0A54-F855-D0FB-7D62EDADE286}"/>
              </a:ext>
            </a:extLst>
          </p:cNvPr>
          <p:cNvSpPr txBox="1"/>
          <p:nvPr/>
        </p:nvSpPr>
        <p:spPr>
          <a:xfrm>
            <a:off x="11291316" y="6249924"/>
            <a:ext cx="2728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AAD2-993D-9D7B-F2EF-5B1F2BA6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4D311-CC2B-4FFF-61D7-9B2E46EFA2E5}"/>
              </a:ext>
            </a:extLst>
          </p:cNvPr>
          <p:cNvSpPr txBox="1"/>
          <p:nvPr/>
        </p:nvSpPr>
        <p:spPr>
          <a:xfrm>
            <a:off x="609600" y="341376"/>
            <a:ext cx="10972800" cy="529376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3. Literature Review (2/4): Single-surface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FCDEB-14F2-0F0C-3E30-BF5F4E66EE19}"/>
              </a:ext>
            </a:extLst>
          </p:cNvPr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Wu et al. (2024) - </a:t>
            </a:r>
            <a:r>
              <a:rPr lang="en-US" sz="1600" b="1" dirty="0" err="1">
                <a:latin typeface=""/>
              </a:rPr>
              <a:t>DeFiRanger</a:t>
            </a:r>
            <a:r>
              <a:rPr lang="en-US" sz="1600" b="1" dirty="0">
                <a:latin typeface=""/>
              </a:rPr>
              <a:t>: Oracle-side detection  [3]</a:t>
            </a:r>
            <a:endParaRPr sz="1600" b="1" dirty="0">
              <a:latin typeface="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4228C1-3857-20D2-813F-685E300A8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45084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Recovers price-manipulation attacks from oracle-side cash-flow signals.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Demonstrates effectiveness on real-world DeFi price manipulation cases.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Detection signals that could trigger downstream containment.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Cannot distinguish coordinated manipulation from organic market moves without contract-side context.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Single-surface scope; no formal cross-domain detection metric.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Containment integration and response policy remain open.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404577-35AE-7545-3CC0-9B4215A22B88}"/>
              </a:ext>
            </a:extLst>
          </p:cNvPr>
          <p:cNvSpPr txBox="1"/>
          <p:nvPr/>
        </p:nvSpPr>
        <p:spPr>
          <a:xfrm>
            <a:off x="487680" y="6112614"/>
            <a:ext cx="6537752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[3]  S. Wu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DeFiRanger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Detecting Price Manipulation Attacks on DeFi Applications,' IEEE TDSC, 2024.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7CF79-8D71-549B-329B-3AF62905ABC9}"/>
              </a:ext>
            </a:extLst>
          </p:cNvPr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Wang et al. (2021) - </a:t>
            </a:r>
            <a:r>
              <a:rPr lang="en-US" sz="1600" b="1" dirty="0" err="1">
                <a:latin typeface=""/>
              </a:rPr>
              <a:t>BlockEye</a:t>
            </a:r>
            <a:r>
              <a:rPr lang="en-US" sz="1600" b="1" dirty="0">
                <a:latin typeface=""/>
              </a:rPr>
              <a:t>: Contract-side monitoring  [5]</a:t>
            </a:r>
            <a:endParaRPr sz="1600" b="1" dirty="0">
              <a:latin typeface="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97FBC-7A5B-3385-989C-B71D61CB379A}"/>
              </a:ext>
            </a:extLst>
          </p:cNvPr>
          <p:cNvSpPr txBox="1"/>
          <p:nvPr/>
        </p:nvSpPr>
        <p:spPr>
          <a:xfrm>
            <a:off x="487680" y="6360008"/>
            <a:ext cx="5737853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[5]  B. Wang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BlockEye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Hunting for DeFi Attacks on Blockchain,' ICSE Companion, 2021.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8EA2E8-F4CA-B8F0-DD8E-F54D5EEC0E3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014634-BF6B-2D43-F1F2-7601D9439458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756FDC-4DEF-1BFA-4538-663E18936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37830"/>
              </p:ext>
            </p:extLst>
          </p:nvPr>
        </p:nvGraphicFramePr>
        <p:xfrm>
          <a:off x="487680" y="4114797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Contract-side suspicious-pattern monitor over EVM transactions.</a:t>
                      </a:r>
                    </a:p>
                    <a:p>
                      <a:pPr marL="228600" lvl="0" indent="-228600" algn="just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Recovers 17 DeFi attack cases from on-chain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behavioural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 signals.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Early demonstration of practical contract-surface anomaly detection.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Contract surface only; oracle and bridge events are not coupled.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Pattern catalogue is curated; no calibration discipline against benign windows.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Reported FPR is not held out from the calibration corpus.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320502A-9FD4-889B-E41B-CE2C3BD25EEA}"/>
              </a:ext>
            </a:extLst>
          </p:cNvPr>
          <p:cNvSpPr txBox="1"/>
          <p:nvPr/>
        </p:nvSpPr>
        <p:spPr>
          <a:xfrm>
            <a:off x="11291316" y="6249924"/>
            <a:ext cx="27283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930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715C-F8BA-F131-6161-D96F6DB9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830C9-CB2E-D1FA-C69F-6BB73F792C97}"/>
              </a:ext>
            </a:extLst>
          </p:cNvPr>
          <p:cNvSpPr txBox="1"/>
          <p:nvPr/>
        </p:nvSpPr>
        <p:spPr>
          <a:xfrm>
            <a:off x="609600" y="341376"/>
            <a:ext cx="10972800" cy="590931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3. Literature Review (3/4): </a:t>
            </a:r>
            <a:r>
              <a:rPr lang="en-US" sz="3200" b="1" dirty="0"/>
              <a:t>Cross-surface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7F387-8C62-0493-EADB-D0A016505731}"/>
              </a:ext>
            </a:extLst>
          </p:cNvPr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Kong et al. (2023) - </a:t>
            </a:r>
            <a:r>
              <a:rPr lang="en-US" sz="1600" b="1" dirty="0" err="1">
                <a:latin typeface=""/>
              </a:rPr>
              <a:t>DeFiTainter</a:t>
            </a:r>
            <a:r>
              <a:rPr lang="en-US" sz="1600" b="1" dirty="0">
                <a:latin typeface=""/>
              </a:rPr>
              <a:t>: Contract + oracle taint flow  [4]</a:t>
            </a:r>
            <a:endParaRPr sz="1600" b="1" dirty="0">
              <a:latin typeface="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70E745-0B9D-1B27-1ACD-585C8EC2C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901292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Cross-surface taint-flow framework at per-transaction granularity.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Couples contract and oracle events under a common dataflow abstraction.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Early precursor to formal cross-domain reasoning in DeFi exploit detection.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Bounded to two surfaces; bridge surface is out of scope.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Single-block scope; cannot reach Nomad-style 48-hour copycat drains.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No off-chain attestations (Wormhole forged VAA falls outside the model).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6D1271-A13F-26F2-6477-B912838DC36A}"/>
              </a:ext>
            </a:extLst>
          </p:cNvPr>
          <p:cNvSpPr txBox="1"/>
          <p:nvPr/>
        </p:nvSpPr>
        <p:spPr>
          <a:xfrm>
            <a:off x="487680" y="6112614"/>
            <a:ext cx="6590650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[4]  Q. Kong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DeFiTainter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Detecting Price Manipulation Vulnerabilities in DeFi Protocols,' ISSTA, 2023.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65FEEE-95F1-E72F-B609-43C0FF6BF98E}"/>
              </a:ext>
            </a:extLst>
          </p:cNvPr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 err="1">
                <a:latin typeface=""/>
              </a:rPr>
              <a:t>Eshghie</a:t>
            </a:r>
            <a:r>
              <a:rPr lang="en-US" sz="1600" b="1" dirty="0">
                <a:latin typeface=""/>
              </a:rPr>
              <a:t> et al. (2024) - </a:t>
            </a:r>
            <a:r>
              <a:rPr lang="en-US" sz="1600" b="1" dirty="0" err="1">
                <a:latin typeface=""/>
              </a:rPr>
              <a:t>HighGuard</a:t>
            </a:r>
            <a:r>
              <a:rPr lang="en-US" sz="1600" b="1" dirty="0">
                <a:latin typeface=""/>
              </a:rPr>
              <a:t>: Cross-domain business-logic monitoring  [7]</a:t>
            </a:r>
            <a:endParaRPr sz="1600" b="1" dirty="0">
              <a:latin typeface="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13F56-09DF-C1BF-64AD-898A7CE92CC4}"/>
              </a:ext>
            </a:extLst>
          </p:cNvPr>
          <p:cNvSpPr txBox="1"/>
          <p:nvPr/>
        </p:nvSpPr>
        <p:spPr>
          <a:xfrm>
            <a:off x="487680" y="6360008"/>
            <a:ext cx="6361421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[7]  M. 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Eshghie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 et al., '</a:t>
            </a:r>
            <a:r>
              <a:rPr lang="en-US" sz="1130" i="1" dirty="0" err="1">
                <a:solidFill>
                  <a:srgbClr val="6E6E6E"/>
                </a:solidFill>
                <a:latin typeface="Cambria"/>
              </a:rPr>
              <a:t>HighGuard</a:t>
            </a:r>
            <a:r>
              <a:rPr lang="en-US" sz="1130" i="1" dirty="0">
                <a:solidFill>
                  <a:srgbClr val="6E6E6E"/>
                </a:solidFill>
                <a:latin typeface="Cambria"/>
              </a:rPr>
              <a:t>: Cross-Chain Business Logic Monitoring of Smart Contracts,' ASE, 2024.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4DDB98-74DA-5004-72E8-B014673F854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6554A2-8048-F113-F75F-4B418D71B9D0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D66522-D4E3-05B1-B1A7-B84FAC719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2156"/>
              </p:ext>
            </p:extLst>
          </p:nvPr>
        </p:nvGraphicFramePr>
        <p:xfrm>
          <a:off x="487680" y="4114797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Contract and oracle correlation on a four-protocol benchmark.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Demonstrates cross-domain reasoning at the policy layer.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Closest prior precursor to the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GraphSignalGate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 aggregator of this thesis.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Limited cross-domain reasoning; no formal CDG-style metric.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Bridge surface is not modelled.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Containment policy is not parameter-free; thresholds carry through the aggregator.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E9620DF-B29F-1A1E-49F7-02CCCEF3E667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704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907D-95D9-18D1-D19A-86FE3EF8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55DA7-BDD4-9800-D67A-FC4CDD78E1A6}"/>
              </a:ext>
            </a:extLst>
          </p:cNvPr>
          <p:cNvSpPr txBox="1"/>
          <p:nvPr/>
        </p:nvSpPr>
        <p:spPr>
          <a:xfrm>
            <a:off x="609600" y="341376"/>
            <a:ext cx="10972800" cy="498598"/>
          </a:xfrm>
          <a:prstGeom prst="rect">
            <a:avLst/>
          </a:prstGeom>
          <a:noFill/>
        </p:spPr>
        <p:txBody>
          <a:bodyPr wrap="square" lIns="48768" tIns="48768" rIns="48768" bIns="48768" anchor="t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600" dirty="0"/>
              <a:t>3. Literature Review (4/4): Production Monitoring and MEV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77936-6947-6AB9-0BE5-192AE081CE89}"/>
              </a:ext>
            </a:extLst>
          </p:cNvPr>
          <p:cNvSpPr txBox="1"/>
          <p:nvPr/>
        </p:nvSpPr>
        <p:spPr>
          <a:xfrm>
            <a:off x="487680" y="1158240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Meng et al. (2026) - HOUSTON: Production anomaly detection  [6]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B4BDD4-BED9-236E-8BE8-08F5A3EB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83110"/>
              </p:ext>
            </p:extLst>
          </p:nvPr>
        </p:nvGraphicFramePr>
        <p:xfrm>
          <a:off x="487680" y="1584959"/>
          <a:ext cx="11216640" cy="180441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"/>
                        </a:rPr>
                        <a:t>Key contribution / findings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"/>
                        </a:rPr>
                        <a:t>Limitations / notes</a:t>
                      </a: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Single-surface anomaly detector deployed in production on Ethereum DeFi protocols.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Six real-time anomaly cases reported on live deployments.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Live operational evidence that calibrated rules can run at production cadence.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Single surface; cross-surface correlation is absent.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Live evaluation, no formal CDG metric.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Bridge surface is not in scope.</a:t>
                      </a: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05CAD2-55D8-E15C-1484-7E78E72EC56D}"/>
              </a:ext>
            </a:extLst>
          </p:cNvPr>
          <p:cNvSpPr txBox="1"/>
          <p:nvPr/>
        </p:nvSpPr>
        <p:spPr>
          <a:xfrm>
            <a:off x="487680" y="6112614"/>
            <a:ext cx="7154907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[6]  D. Meng et al., 'HOUSTON: Real-time Anomaly Detection of Attacks against Ethereum DeFi Protocols,' NDSS, 2026.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570C3-31D5-E2C9-62F2-5CB42C48EDAA}"/>
              </a:ext>
            </a:extLst>
          </p:cNvPr>
          <p:cNvSpPr txBox="1"/>
          <p:nvPr/>
        </p:nvSpPr>
        <p:spPr>
          <a:xfrm>
            <a:off x="487680" y="3688076"/>
            <a:ext cx="11216640" cy="295466"/>
          </a:xfrm>
          <a:prstGeom prst="rect">
            <a:avLst/>
          </a:prstGeom>
          <a:noFill/>
        </p:spPr>
        <p:txBody>
          <a:bodyPr wrap="square" lIns="48768" tIns="24384" rIns="48768" bIns="24384">
            <a:spAutoFit/>
          </a:bodyPr>
          <a:lstStyle/>
          <a:p>
            <a:r>
              <a:rPr lang="en-US" sz="1600" b="1" dirty="0">
                <a:latin typeface=""/>
              </a:rPr>
              <a:t>Daian et al. (2020) - Flash Boys 2.0: MEV as cross-surface signal  [8]</a:t>
            </a:r>
            <a:endParaRPr sz="1600" b="1" dirty="0">
              <a:latin typeface="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7792F7-77AB-9503-7C6E-2F43287A3C5F}"/>
              </a:ext>
            </a:extLst>
          </p:cNvPr>
          <p:cNvSpPr txBox="1"/>
          <p:nvPr/>
        </p:nvSpPr>
        <p:spPr>
          <a:xfrm>
            <a:off x="487680" y="6360008"/>
            <a:ext cx="5992731" cy="198516"/>
          </a:xfrm>
          <a:prstGeom prst="rect">
            <a:avLst/>
          </a:prstGeom>
          <a:noFill/>
        </p:spPr>
        <p:txBody>
          <a:bodyPr wrap="none" lIns="48768" tIns="12192" rIns="48768" bIns="12192">
            <a:spAutoFit/>
          </a:bodyPr>
          <a:lstStyle/>
          <a:p>
            <a:r>
              <a:rPr lang="en-US" sz="1130" i="1" dirty="0">
                <a:solidFill>
                  <a:srgbClr val="6E6E6E"/>
                </a:solidFill>
                <a:latin typeface="Cambria"/>
              </a:rPr>
              <a:t>[8]  P. Daian et al., 'Flash Boys 2.0: Frontrunning, MEV, and Consensus Instability,' IEEE S&amp;P, 2020.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2189B-DCBC-4007-3322-F15F51AB2CE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C4D0E-E648-9C4F-B30B-4AE22A46074E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A10B1-DA19-5A32-39C8-571033FF2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383796"/>
              </p:ext>
            </p:extLst>
          </p:nvPr>
        </p:nvGraphicFramePr>
        <p:xfrm>
          <a:off x="487680" y="4114797"/>
          <a:ext cx="11216640" cy="1934909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60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Key contribution / findings</a:t>
                      </a:r>
                      <a:endParaRPr sz="14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Limitations / notes</a:t>
                      </a:r>
                      <a:endParaRPr sz="1400" b="1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97536" marR="97536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71"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Cross-surface analysis in the MEV setting (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mempool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, contract, DEX state).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Demonstrates the value of correlating order-flow signals across surfaces.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Established cross-surface observation as a research method, not just a detection tool.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Bounded to the MEV context; not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latin typeface=""/>
                        </a:rPr>
                        <a:t>generalised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 to oracle manipulation or bridges.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No calibrated rule set; detection is descriptive rather than operational.</a:t>
                      </a:r>
                    </a:p>
                    <a:p>
                      <a:pPr marL="228600" lvl="0" indent="-228600">
                        <a:lnSpc>
                          <a:spcPct val="115000"/>
                        </a:lnSpc>
                        <a:spcAft>
                          <a:spcPts val="200"/>
                        </a:spcAft>
                        <a:buClr>
                          <a:srgbClr val="6E6E6E"/>
                        </a:buClr>
                        <a:buFont typeface="Arial"/>
                        <a:buChar char="•"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"/>
                        </a:rPr>
                        <a:t>Cross-domain detection-gain question is not framed.</a:t>
                      </a:r>
                      <a:endParaRPr sz="13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121920" marR="121920" marT="73152" marB="7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AB82E3A-E45D-2C13-45B9-7AF2BBC24F04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303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83324" y="411480"/>
            <a:ext cx="36253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4.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427469"/>
            <a:ext cx="10728960" cy="457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RG1.  No quantitative cross-domain metric: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dirty="0"/>
              <a:t>Existing tools couple evidence implicitly or by case study. No published metric measures the marginal recall a multi-surface configuration adds over each single-surface baseline.</a:t>
            </a:r>
          </a:p>
          <a:p>
            <a:pPr lvl="1" algn="just">
              <a:lnSpc>
                <a:spcPct val="110000"/>
              </a:lnSpc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RG2.  Containment uses per-rule thresholds: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dirty="0"/>
              <a:t>Deployed </a:t>
            </a:r>
            <a:r>
              <a:rPr lang="en-US" dirty="0" err="1"/>
              <a:t>SlowMode</a:t>
            </a:r>
            <a:r>
              <a:rPr lang="en-US" dirty="0"/>
              <a:t> and circuit-breaker primitives fire on independently-calibrated per-surface thresholds. No parameter-free witness condition over fired Layer B outputs exists at the policy layer.</a:t>
            </a:r>
          </a:p>
          <a:p>
            <a:pPr algn="just">
              <a:lnSpc>
                <a:spcPct val="110000"/>
              </a:lnSpc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RG3.  Bridge taxonomy without on-chain detection: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dirty="0"/>
              <a:t>Li et al. [2] catalogue four bridge-attack classes, but no calibrated rule set targets the payload-embedding or value-handling subclasses.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242F-B458-89E8-2B32-8A94A1C7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54B527-D3A2-1011-5338-1DDB0AABE30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082551-A96B-163A-D97F-C0C8C1C1EAD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011EB-BE69-855F-E1A4-1FA715802D09}"/>
              </a:ext>
            </a:extLst>
          </p:cNvPr>
          <p:cNvSpPr txBox="1"/>
          <p:nvPr/>
        </p:nvSpPr>
        <p:spPr>
          <a:xfrm>
            <a:off x="3800822" y="411480"/>
            <a:ext cx="45903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5</a:t>
            </a:r>
            <a:r>
              <a:rPr dirty="0"/>
              <a:t>. Research </a:t>
            </a:r>
            <a:r>
              <a:rPr lang="en-US" dirty="0"/>
              <a:t>Questions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7FAC6-6452-4672-66F7-25F6348870F3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13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92FC5-2200-5171-E1B9-AECFB23EBDE3}"/>
              </a:ext>
            </a:extLst>
          </p:cNvPr>
          <p:cNvSpPr txBox="1"/>
          <p:nvPr/>
        </p:nvSpPr>
        <p:spPr>
          <a:xfrm>
            <a:off x="731520" y="1427469"/>
            <a:ext cx="10728960" cy="3291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RQ1:</a:t>
            </a:r>
            <a:r>
              <a:rPr lang="en-US" dirty="0"/>
              <a:t>  Does correlating evidence across three monitored surfaces (contract, oracle, bridge) </a:t>
            </a:r>
            <a:r>
              <a:rPr lang="en-US" b="1" dirty="0"/>
              <a:t>produce a measurable detection gain over single-surface baselines</a:t>
            </a:r>
            <a:r>
              <a:rPr lang="en-US" dirty="0"/>
              <a:t>, and how should that gain be defined so it is comparable across cases and rule sets?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RQ2:  </a:t>
            </a:r>
            <a:r>
              <a:rPr lang="en-US" dirty="0"/>
              <a:t>Does the same cross-surface correlation, repurposed as a </a:t>
            </a:r>
            <a:r>
              <a:rPr lang="en-US" b="1" dirty="0"/>
              <a:t>containment-policy aggregator</a:t>
            </a:r>
            <a:r>
              <a:rPr lang="en-US" dirty="0"/>
              <a:t>, fire </a:t>
            </a:r>
            <a:r>
              <a:rPr lang="en-US" dirty="0" err="1"/>
              <a:t>SlowMode</a:t>
            </a:r>
            <a:r>
              <a:rPr lang="en-US" dirty="0"/>
              <a:t> protections on attack windows without introducing false </a:t>
            </a:r>
            <a:r>
              <a:rPr lang="en-US" dirty="0" err="1"/>
              <a:t>benigns</a:t>
            </a:r>
            <a:r>
              <a:rPr lang="en-US" dirty="0"/>
              <a:t> on benign data, and at what calibration cost?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b="1" dirty="0"/>
              <a:t>RQ3:  </a:t>
            </a:r>
            <a:r>
              <a:rPr lang="en-US" dirty="0"/>
              <a:t>What is the </a:t>
            </a:r>
            <a:r>
              <a:rPr lang="en-US" b="1" dirty="0"/>
              <a:t>taxonomy of bridge-surface attacks</a:t>
            </a:r>
            <a:r>
              <a:rPr lang="en-US" dirty="0"/>
              <a:t>, and which sub-classes are reachable by on-chain rule-based detection at all?</a:t>
            </a:r>
          </a:p>
        </p:txBody>
      </p:sp>
    </p:spTree>
    <p:extLst>
      <p:ext uri="{BB962C8B-B14F-4D97-AF65-F5344CB8AC3E}">
        <p14:creationId xmlns:p14="http://schemas.microsoft.com/office/powerpoint/2010/main" val="3714266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347" y="411480"/>
            <a:ext cx="1104930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3000" dirty="0"/>
              <a:t>6. Research Objectives  (mapped to RQs and Contributions)</a:t>
            </a:r>
            <a:endParaRPr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dirty="0"/>
              <a:t>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26336-D6A3-9E19-2029-113998004089}"/>
              </a:ext>
            </a:extLst>
          </p:cNvPr>
          <p:cNvSpPr txBox="1"/>
          <p:nvPr/>
        </p:nvSpPr>
        <p:spPr>
          <a:xfrm>
            <a:off x="731520" y="1332809"/>
            <a:ext cx="10559796" cy="4917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RO1.  Define and measure CDG over a documented corpus.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A 35-case curated corpus with explicit selection criterion, a Tier 1 versus Tier 2 reconstruction-depth split, per-case and corpus-level CDG with a five-bucket partition.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i="1" dirty="0"/>
              <a:t>Answers RQ1; produces C1 and C2.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RO2.  Build a parameter-free containment policy and evaluate it.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 err="1"/>
              <a:t>GraphSignalGate</a:t>
            </a:r>
            <a:r>
              <a:rPr lang="en-US" dirty="0"/>
              <a:t> as the policy-layer reformulation of the CR-5 cross-surface witness; canonical GSG-witness-inclusive evaluated against single-surface baselines with a two-axis comparison.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i="1" dirty="0"/>
              <a:t>Answers RQ2; produces C3.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RO3.  Extend the witness apparatus to the bridge surface.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Four-rule bridge taxonomy CR-B1 to CR-B4 plus Policy 3B-bridge-terminal. Two CALIBRATED rules against Dune-empirical benign data; two HYPOTHESIS rules under explicit qualifiers; identification of the payload-embedding class.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i="1" dirty="0"/>
              <a:t>Answers RQ3; produces C4 and C5.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1396" y="411480"/>
            <a:ext cx="100292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7</a:t>
            </a:r>
            <a:r>
              <a:rPr dirty="0"/>
              <a:t>. Research Methodology (</a:t>
            </a:r>
            <a:r>
              <a:rPr lang="en-US" dirty="0"/>
              <a:t>1/8</a:t>
            </a:r>
            <a:r>
              <a:rPr dirty="0"/>
              <a:t>)</a:t>
            </a:r>
            <a:r>
              <a:rPr lang="en-US" dirty="0"/>
              <a:t>: Four-layer Pipeline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15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33974" y="1190850"/>
            <a:ext cx="5484085" cy="525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A:</a:t>
            </a:r>
            <a:r>
              <a:rPr lang="en-US" dirty="0"/>
              <a:t>  </a:t>
            </a:r>
            <a:r>
              <a:rPr lang="en-US" dirty="0" err="1"/>
              <a:t>Normalises</a:t>
            </a:r>
            <a:r>
              <a:rPr lang="en-US" dirty="0"/>
              <a:t> events from contract, oracle, and bridge surfaces onto a single 7-tuple schema.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B:  </a:t>
            </a:r>
            <a:r>
              <a:rPr lang="en-US" dirty="0"/>
              <a:t>Rule set. Five rule slots CR-1..CR-5 on contract and oracle, four bridge rules CR-B1..CR-B4 on bridge. Conservative 10x calibration against pre-attack benign data.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C:  </a:t>
            </a:r>
            <a:r>
              <a:rPr lang="en-US" dirty="0" err="1"/>
              <a:t>GraphSignalGate</a:t>
            </a:r>
            <a:r>
              <a:rPr lang="en-US" dirty="0"/>
              <a:t>, parameter-free containment-policy aggregator that fires </a:t>
            </a:r>
            <a:r>
              <a:rPr lang="en-US" dirty="0" err="1"/>
              <a:t>SlowMode</a:t>
            </a:r>
            <a:r>
              <a:rPr lang="en-US" dirty="0"/>
              <a:t> when at least two distinct surfaces register a Layer B firing within a defined window.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Layer D:  </a:t>
            </a:r>
            <a:r>
              <a:rPr lang="en-US" dirty="0"/>
              <a:t>Extends GSG to the bridge surface with a terminal-trigger policy.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C5A58-2E7F-260A-5A2D-40FDD8298F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18059" y="1810053"/>
            <a:ext cx="5763260" cy="2240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C5AC26-7AF8-DAB7-4EFA-FF2F30431386}"/>
              </a:ext>
            </a:extLst>
          </p:cNvPr>
          <p:cNvSpPr txBox="1"/>
          <p:nvPr/>
        </p:nvSpPr>
        <p:spPr>
          <a:xfrm>
            <a:off x="5958840" y="4169205"/>
            <a:ext cx="6096000" cy="377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1135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3.1: End-to-end pipeline: Layer A </a:t>
            </a:r>
            <a:r>
              <a:rPr lang="en-US" sz="900" kern="100" dirty="0" err="1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normalisation</a:t>
            </a: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, Layer B rules, Layer C </a:t>
            </a:r>
            <a:r>
              <a:rPr lang="en-US" sz="900" kern="100" dirty="0" err="1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GraphSignalGate</a:t>
            </a: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, Layer D bridge surface.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ADF9-1692-63B7-40F4-694A7F79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4EB0F-EDA4-4EAB-640A-CA92143AE3A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A0D181-C4FD-E6DA-EDE3-C31F2B2F2033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1F6F1-41E3-D347-5CC3-C2DEF855D4E0}"/>
              </a:ext>
            </a:extLst>
          </p:cNvPr>
          <p:cNvSpPr txBox="1"/>
          <p:nvPr/>
        </p:nvSpPr>
        <p:spPr>
          <a:xfrm>
            <a:off x="731433" y="411480"/>
            <a:ext cx="107291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2/8</a:t>
            </a:r>
            <a:r>
              <a:rPr sz="2800" dirty="0"/>
              <a:t>)</a:t>
            </a:r>
            <a:r>
              <a:rPr lang="en-US" sz="2800" dirty="0"/>
              <a:t>: Corpus Construction (Layer A)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C28B8-F119-2A57-E6D6-86642D322B67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16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94082-5B8A-6740-7186-90791BBF9B87}"/>
              </a:ext>
            </a:extLst>
          </p:cNvPr>
          <p:cNvSpPr txBox="1"/>
          <p:nvPr/>
        </p:nvSpPr>
        <p:spPr>
          <a:xfrm>
            <a:off x="696796" y="1190850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35 catalogued DeFi exploits</a:t>
            </a:r>
            <a:r>
              <a:rPr lang="en-US" dirty="0"/>
              <a:t> between January 2020 and April 2023, roughly $2.98B reported losses across six chains (Ethereum, BSC, Solana, Avalanche, Fantom, </a:t>
            </a:r>
            <a:r>
              <a:rPr lang="en-US" dirty="0" err="1"/>
              <a:t>Arbitrum</a:t>
            </a:r>
            <a:r>
              <a:rPr lang="en-US" dirty="0"/>
              <a:t>).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Selection criterion (Definition 3.1):  </a:t>
            </a:r>
            <a:r>
              <a:rPr lang="en-US" dirty="0"/>
              <a:t>On-chain causal exploit, loss &gt; $1M, contract or oracle or bridge surface materially involved, attack date in window.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Out-of-scope cases (off-chain key compromise): Multichain, </a:t>
            </a:r>
            <a:r>
              <a:rPr lang="en-US" dirty="0" err="1"/>
              <a:t>Mixin</a:t>
            </a:r>
            <a:r>
              <a:rPr lang="en-US" dirty="0"/>
              <a:t>, Atomic Wallet, </a:t>
            </a:r>
            <a:r>
              <a:rPr lang="en-US" dirty="0" err="1"/>
              <a:t>Heco</a:t>
            </a:r>
            <a:r>
              <a:rPr lang="en-US" dirty="0"/>
              <a:t>, </a:t>
            </a:r>
            <a:r>
              <a:rPr lang="en-US" dirty="0" err="1"/>
              <a:t>Poloniex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Cutoff before April 2023 defends against retroactive corpus tuning.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9B5D9A-E44E-6E79-A836-936A7C109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90799"/>
              </p:ext>
            </p:extLst>
          </p:nvPr>
        </p:nvGraphicFramePr>
        <p:xfrm>
          <a:off x="6383438" y="1673360"/>
          <a:ext cx="5268874" cy="30259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63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Stratum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"/>
                        </a:rPr>
                        <a:t>Cases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"/>
                        </a:rPr>
                        <a:t>Reconstruction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Tier 1 (in scope)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per-tx + Dune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Tier 2 (in scope)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21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YAML depth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Out of scope (off-chain)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not reconstructed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192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Total catalogued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35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see Table 3.1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05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E4FEE-C3AB-D62A-0AFA-1F4CC192D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DA5191-4246-0069-EAE3-40A4D4E97A68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FA2C0-3406-8374-7C3B-DEC906E8AA5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2B5A2-53F2-8149-6E7A-7972D804A1CC}"/>
              </a:ext>
            </a:extLst>
          </p:cNvPr>
          <p:cNvSpPr txBox="1"/>
          <p:nvPr/>
        </p:nvSpPr>
        <p:spPr>
          <a:xfrm>
            <a:off x="1040012" y="411480"/>
            <a:ext cx="101119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3/8</a:t>
            </a:r>
            <a:r>
              <a:rPr sz="2800" dirty="0"/>
              <a:t>)</a:t>
            </a:r>
            <a:r>
              <a:rPr lang="en-US" sz="2800" dirty="0"/>
              <a:t>: Normalized Event Schema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395E1-48A3-9E5D-594C-F306D52B47BE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13D28-85C1-B2C4-4E25-A29D6853C80A}"/>
              </a:ext>
            </a:extLst>
          </p:cNvPr>
          <p:cNvSpPr txBox="1"/>
          <p:nvPr/>
        </p:nvSpPr>
        <p:spPr>
          <a:xfrm>
            <a:off x="474232" y="1298953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Every event reduced to a 7-tuple before any rule evaluation: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r>
              <a:rPr lang="en-US" dirty="0"/>
              <a:t>			</a:t>
            </a:r>
            <a:r>
              <a:rPr lang="en-US" b="1" dirty="0"/>
              <a:t>e  =  (b, t, l, s, e, v, F)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Fields: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b</a:t>
            </a:r>
            <a:r>
              <a:rPr lang="en-US" dirty="0"/>
              <a:t>   block height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</a:t>
            </a:r>
            <a:r>
              <a:rPr lang="en-US" dirty="0"/>
              <a:t>    transaction index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l</a:t>
            </a:r>
            <a:r>
              <a:rPr lang="en-US" dirty="0"/>
              <a:t>    log index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s</a:t>
            </a:r>
            <a:r>
              <a:rPr lang="en-US" dirty="0"/>
              <a:t>    surface (contract / oracle / bridge)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e</a:t>
            </a:r>
            <a:r>
              <a:rPr lang="en-US" dirty="0"/>
              <a:t>    event type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v</a:t>
            </a:r>
            <a:r>
              <a:rPr lang="en-US" dirty="0"/>
              <a:t>    USD value at emission, zero where N/A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F</a:t>
            </a:r>
            <a:r>
              <a:rPr lang="en-US" dirty="0"/>
              <a:t>    map of rule identifiers to </a:t>
            </a:r>
            <a:r>
              <a:rPr lang="en-US" dirty="0" err="1"/>
              <a:t>boolean</a:t>
            </a:r>
            <a:r>
              <a:rPr lang="en-US" dirty="0"/>
              <a:t> flags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388 invariants verified across the corpus (386 confirmations, 2 documented exceptions, 0 failures).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57486-BFD2-44F6-8EC8-0ED3E6E64B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316990"/>
            <a:ext cx="5621768" cy="41206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86BEEB-674E-356D-17C9-2D27A3E63B6C}"/>
              </a:ext>
            </a:extLst>
          </p:cNvPr>
          <p:cNvSpPr txBox="1"/>
          <p:nvPr/>
        </p:nvSpPr>
        <p:spPr>
          <a:xfrm>
            <a:off x="6756295" y="5556504"/>
            <a:ext cx="43011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3.2: Heterogeneous event graph schema with the 7-tuple event attributes.</a:t>
            </a:r>
          </a:p>
        </p:txBody>
      </p:sp>
    </p:spTree>
    <p:extLst>
      <p:ext uri="{BB962C8B-B14F-4D97-AF65-F5344CB8AC3E}">
        <p14:creationId xmlns:p14="http://schemas.microsoft.com/office/powerpoint/2010/main" val="40150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5A193-6EC1-A425-E44A-656CD9DB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2AB4A-8B80-8F8E-B36C-F1FEC6494348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6DBEC1-0EF7-A9DC-ACB7-0BC70B4DBDC5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1BA0B-D0A3-9666-3B02-E95AF250F66E}"/>
              </a:ext>
            </a:extLst>
          </p:cNvPr>
          <p:cNvSpPr txBox="1"/>
          <p:nvPr/>
        </p:nvSpPr>
        <p:spPr>
          <a:xfrm>
            <a:off x="1228365" y="411480"/>
            <a:ext cx="97352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4/8</a:t>
            </a:r>
            <a:r>
              <a:rPr sz="2800" dirty="0"/>
              <a:t>)</a:t>
            </a:r>
            <a:r>
              <a:rPr lang="en-US" sz="2800" dirty="0"/>
              <a:t>: Layer B Detection Rules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487C4-8040-9497-4E45-7396C22F9D94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18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278E8-5C90-A7E7-6DD6-7BE5D242D251}"/>
              </a:ext>
            </a:extLst>
          </p:cNvPr>
          <p:cNvSpPr txBox="1"/>
          <p:nvPr/>
        </p:nvSpPr>
        <p:spPr>
          <a:xfrm>
            <a:off x="474232" y="1125220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CR-1 oracle deviation:  </a:t>
            </a:r>
            <a:r>
              <a:rPr lang="en-US" dirty="0"/>
              <a:t>Per-update relative magnitude against per-pair benign baseline. 10x operating point.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CR-2 contract per-</a:t>
            </a:r>
            <a:r>
              <a:rPr lang="en-US" b="1" dirty="0" err="1"/>
              <a:t>tx</a:t>
            </a:r>
            <a:r>
              <a:rPr lang="en-US" b="1" dirty="0"/>
              <a:t> volume:  </a:t>
            </a:r>
            <a:r>
              <a:rPr lang="en-US" dirty="0"/>
              <a:t>Per-transaction USD value against per-protocol benign max. 10x.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CR-3 flash loan: </a:t>
            </a:r>
            <a:r>
              <a:rPr lang="en-US" dirty="0"/>
              <a:t>Reserved, not implemented.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CR-4 liquidity drain: </a:t>
            </a:r>
            <a:r>
              <a:rPr lang="en-US" dirty="0"/>
              <a:t>Reserved, not implemented.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CR-5 cross-corpus full-graph:  </a:t>
            </a:r>
            <a:r>
              <a:rPr lang="en-US" dirty="0"/>
              <a:t>Binary cross-surface witness over already-fired CR-1 and CR-2 outputs.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Bridge surface (Layer D):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CR-B1, CR-B2  </a:t>
            </a:r>
            <a:r>
              <a:rPr lang="en-US" b="1" dirty="0"/>
              <a:t>CALIBRATED</a:t>
            </a:r>
            <a:r>
              <a:rPr lang="en-US" dirty="0"/>
              <a:t>.  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CR-B3, CR-B4  </a:t>
            </a:r>
            <a:r>
              <a:rPr lang="en-US" b="1" dirty="0"/>
              <a:t>HYPOTHESIS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3134A-B7FB-26A9-44EF-6402D8BAC7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67417" y="1125220"/>
            <a:ext cx="5759450" cy="4607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0FB46F-9C56-C1FB-39B7-E969D4F14AA1}"/>
              </a:ext>
            </a:extLst>
          </p:cNvPr>
          <p:cNvSpPr txBox="1"/>
          <p:nvPr/>
        </p:nvSpPr>
        <p:spPr>
          <a:xfrm>
            <a:off x="7915659" y="5807884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3.3: Surface-rule coverage matrix.</a:t>
            </a:r>
            <a:r>
              <a:rPr lang="en-US" sz="900" dirty="0">
                <a:effectLst/>
                <a:latin typeface=""/>
              </a:rPr>
              <a:t> </a:t>
            </a:r>
            <a:endParaRPr lang="en-US" sz="900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789365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3403-E610-CAD4-B28E-FE0924CD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712926-5D1E-C9A5-8360-42F546BDF76A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DB51F-F1BD-D0B2-68A4-5833B45351D2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05EED-ACDB-A69D-A4C3-B2E13EBCB472}"/>
              </a:ext>
            </a:extLst>
          </p:cNvPr>
          <p:cNvSpPr txBox="1"/>
          <p:nvPr/>
        </p:nvSpPr>
        <p:spPr>
          <a:xfrm>
            <a:off x="642045" y="411480"/>
            <a:ext cx="109079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600" dirty="0"/>
              <a:t>7</a:t>
            </a:r>
            <a:r>
              <a:rPr sz="2600" dirty="0"/>
              <a:t>. Research Methodology (</a:t>
            </a:r>
            <a:r>
              <a:rPr lang="en-US" sz="2600" dirty="0"/>
              <a:t>5/8</a:t>
            </a:r>
            <a:r>
              <a:rPr sz="2600" dirty="0"/>
              <a:t>)</a:t>
            </a:r>
            <a:r>
              <a:rPr lang="en-US" sz="2600" dirty="0"/>
              <a:t>: Cross-Domain Detection Gain (CDG)</a:t>
            </a:r>
            <a:endParaRPr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8562F-4300-06A6-486B-2A134639777C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19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882B9-0D33-BC98-EDF2-9343825CF504}"/>
              </a:ext>
            </a:extLst>
          </p:cNvPr>
          <p:cNvSpPr txBox="1"/>
          <p:nvPr/>
        </p:nvSpPr>
        <p:spPr>
          <a:xfrm>
            <a:off x="755827" y="1291768"/>
            <a:ext cx="78638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Per-case CDG vector</a:t>
            </a:r>
            <a:r>
              <a:rPr lang="en-US" b="1" i="0" dirty="0">
                <a:latin typeface=""/>
              </a:rPr>
              <a:t>:</a:t>
            </a:r>
            <a:endParaRPr b="1" i="0" dirty="0">
              <a:latin typeface="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F14D9C-23AD-81D1-E928-4A9AEFDC8EA9}"/>
              </a:ext>
            </a:extLst>
          </p:cNvPr>
          <p:cNvSpPr/>
          <p:nvPr/>
        </p:nvSpPr>
        <p:spPr>
          <a:xfrm>
            <a:off x="1692219" y="1972372"/>
            <a:ext cx="7680960" cy="868680"/>
          </a:xfrm>
          <a:prstGeom prst="rect">
            <a:avLst/>
          </a:prstGeom>
          <a:solidFill>
            <a:srgbClr val="F2F2F2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just">
              <a:buNone/>
            </a:pPr>
            <a:r>
              <a:rPr b="1" dirty="0">
                <a:solidFill>
                  <a:schemeClr val="tx1"/>
                </a:solidFill>
                <a:latin typeface=""/>
              </a:rPr>
              <a:t>CDG(c)  =  </a:t>
            </a:r>
            <a:r>
              <a:rPr dirty="0">
                <a:solidFill>
                  <a:schemeClr val="tx1"/>
                </a:solidFill>
                <a:latin typeface=""/>
              </a:rPr>
              <a:t>( R(full)(c)  −  R(contract)(c),    R(full)(c)  −  R(oracle)(c) </a:t>
            </a:r>
            <a:r>
              <a:rPr lang="en-US" dirty="0">
                <a:solidFill>
                  <a:schemeClr val="tx1"/>
                </a:solidFill>
                <a:latin typeface=""/>
              </a:rPr>
              <a:t>)</a:t>
            </a:r>
            <a:endParaRPr dirty="0">
              <a:solidFill>
                <a:schemeClr val="tx1"/>
              </a:solidFill>
              <a:latin typeface=""/>
            </a:endParaRPr>
          </a:p>
          <a:p>
            <a:pPr algn="just">
              <a:buNone/>
            </a:pPr>
            <a:r>
              <a:rPr lang="en-US" b="1" dirty="0">
                <a:solidFill>
                  <a:schemeClr val="tx1"/>
                </a:solidFill>
                <a:latin typeface=""/>
              </a:rPr>
              <a:t>												    </a:t>
            </a:r>
            <a:r>
              <a:rPr b="1" dirty="0">
                <a:solidFill>
                  <a:schemeClr val="tx1"/>
                </a:solidFill>
                <a:latin typeface=""/>
              </a:rPr>
              <a:t>∈  { −1, 0, 1 }²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4D5370-C7F5-7E6C-0EC5-D810B7E88BE2}"/>
              </a:ext>
            </a:extLst>
          </p:cNvPr>
          <p:cNvSpPr txBox="1"/>
          <p:nvPr/>
        </p:nvSpPr>
        <p:spPr>
          <a:xfrm>
            <a:off x="755827" y="3411321"/>
            <a:ext cx="8229600" cy="25624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R(X)(c) ∈ {0, 1}</a:t>
            </a:r>
            <a:r>
              <a:rPr b="0" i="0" dirty="0">
                <a:latin typeface=""/>
              </a:rPr>
              <a:t>  is the binary recall indicator on case c under configuration X.</a:t>
            </a: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First component:</a:t>
            </a:r>
            <a:r>
              <a:rPr lang="en-US" b="1" i="0" dirty="0">
                <a:latin typeface=""/>
              </a:rPr>
              <a:t> </a:t>
            </a:r>
            <a:r>
              <a:rPr b="0" i="0" dirty="0">
                <a:latin typeface=""/>
              </a:rPr>
              <a:t>gain over contract-only baseline.    </a:t>
            </a:r>
            <a:endParaRPr lang="en-US" b="0" i="0" dirty="0">
              <a:latin typeface=""/>
            </a:endParaRP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Second component:</a:t>
            </a:r>
            <a:r>
              <a:rPr lang="en-US" b="1" dirty="0">
                <a:latin typeface=""/>
              </a:rPr>
              <a:t> </a:t>
            </a:r>
            <a:r>
              <a:rPr b="0" i="0" dirty="0">
                <a:latin typeface=""/>
              </a:rPr>
              <a:t>gain over oracle-only baseline.</a:t>
            </a: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b="1" i="0" dirty="0">
                <a:latin typeface=""/>
              </a:rPr>
              <a:t>Corpus-level CDG</a:t>
            </a:r>
            <a:r>
              <a:rPr b="0" i="0" dirty="0">
                <a:latin typeface=""/>
              </a:rPr>
              <a:t> against baseline b is the per-case mean</a:t>
            </a:r>
            <a:r>
              <a:rPr lang="en-US" b="0" i="0" dirty="0">
                <a:latin typeface=""/>
              </a:rPr>
              <a:t>:</a:t>
            </a:r>
            <a:endParaRPr b="0" i="0" dirty="0">
              <a:latin typeface=""/>
            </a:endParaRPr>
          </a:p>
          <a:p>
            <a:pPr marL="0" lvl="1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</a:pPr>
            <a:r>
              <a:rPr lang="en-US" b="0" i="0" dirty="0">
                <a:latin typeface=""/>
              </a:rPr>
              <a:t>		</a:t>
            </a:r>
            <a:r>
              <a:rPr lang="en-US" b="1" i="0" dirty="0">
                <a:latin typeface=""/>
              </a:rPr>
              <a:t> </a:t>
            </a:r>
            <a:r>
              <a:rPr b="1" i="0" dirty="0">
                <a:latin typeface=""/>
              </a:rPr>
              <a:t>CDG(F, b)  </a:t>
            </a:r>
            <a:r>
              <a:rPr b="0" i="0" dirty="0">
                <a:latin typeface=""/>
              </a:rPr>
              <a:t>=  (1/|C|) · </a:t>
            </a:r>
            <a:r>
              <a:rPr b="0" i="0" dirty="0" err="1">
                <a:latin typeface=""/>
              </a:rPr>
              <a:t>Σ_c</a:t>
            </a:r>
            <a:r>
              <a:rPr b="0" i="0" dirty="0">
                <a:latin typeface=""/>
              </a:rPr>
              <a:t> [ R(full)(c) − R(b)(c) ]</a:t>
            </a:r>
          </a:p>
          <a:p>
            <a:pPr marL="285750" lvl="0" indent="-285750" algn="just">
              <a:lnSpc>
                <a:spcPct val="120000"/>
              </a:lnSpc>
              <a:spcAft>
                <a:spcPts val="300"/>
              </a:spcAft>
              <a:buClr>
                <a:srgbClr val="6E6E6E"/>
              </a:buClr>
              <a:buFont typeface="Arial" panose="020B0604020202020204" pitchFamily="34" charset="0"/>
              <a:buChar char="•"/>
            </a:pPr>
            <a:r>
              <a:rPr sz="1600" b="0" i="1" dirty="0">
                <a:latin typeface=""/>
              </a:rPr>
              <a:t>The metric isolates the marginal value of cross-surface correlation from gains driven by stronger per-surface rules.</a:t>
            </a:r>
          </a:p>
        </p:txBody>
      </p:sp>
    </p:spTree>
    <p:extLst>
      <p:ext uri="{BB962C8B-B14F-4D97-AF65-F5344CB8AC3E}">
        <p14:creationId xmlns:p14="http://schemas.microsoft.com/office/powerpoint/2010/main" val="160822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9DC8-24BB-19E9-B3C9-03A49027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E1E8C5-94F9-DF49-AA64-C9F13DA7D4D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40D4EC-47C9-A5EB-D1D6-231DA96ECE2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03EBC-EF45-F6C6-C942-C865AE2AC567}"/>
              </a:ext>
            </a:extLst>
          </p:cNvPr>
          <p:cNvSpPr txBox="1"/>
          <p:nvPr/>
        </p:nvSpPr>
        <p:spPr>
          <a:xfrm>
            <a:off x="1138241" y="411480"/>
            <a:ext cx="9915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7</a:t>
            </a:r>
            <a:r>
              <a:rPr dirty="0"/>
              <a:t>. Research Methodology (</a:t>
            </a:r>
            <a:r>
              <a:rPr lang="en-US" dirty="0"/>
              <a:t>6/8</a:t>
            </a:r>
            <a:r>
              <a:rPr dirty="0"/>
              <a:t>)</a:t>
            </a:r>
            <a:r>
              <a:rPr lang="en-US" dirty="0"/>
              <a:t>: Five CDG Buckets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A4D24-34DE-1402-1152-63089E7394ED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20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C16B-091E-999F-EB82-939E8E8691C8}"/>
              </a:ext>
            </a:extLst>
          </p:cNvPr>
          <p:cNvSpPr txBox="1"/>
          <p:nvPr/>
        </p:nvSpPr>
        <p:spPr>
          <a:xfrm>
            <a:off x="719946" y="2046913"/>
            <a:ext cx="5484085" cy="434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positive_zero</a:t>
            </a:r>
            <a:r>
              <a:rPr lang="en-US" b="1" dirty="0"/>
              <a:t>  </a:t>
            </a:r>
            <a:r>
              <a:rPr lang="en-US" dirty="0"/>
              <a:t>=  (1, 1, 1).  Both single surfaces fire; CDG = (0, 0). Active-detection equilibrium.  (Mango Markets 2022)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one_zero</a:t>
            </a:r>
            <a:r>
              <a:rPr lang="en-US" b="1" dirty="0"/>
              <a:t>  </a:t>
            </a:r>
            <a:r>
              <a:rPr lang="en-US" dirty="0"/>
              <a:t>=  (0, 1, 1).  Oracle catches, contract sub-threshold; CDG = (1, 0). (Inverse Finance 2022)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zero_one</a:t>
            </a:r>
            <a:r>
              <a:rPr lang="en-US" b="1" dirty="0"/>
              <a:t>  </a:t>
            </a:r>
            <a:r>
              <a:rPr lang="en-US" dirty="0"/>
              <a:t>=  (1, 0, 1).  Contract catches, oracle blind; CDG = (0, 1). (Harvest 2020, Euler 2023)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one_one</a:t>
            </a:r>
            <a:r>
              <a:rPr lang="en-US" b="1" dirty="0"/>
              <a:t>  </a:t>
            </a:r>
            <a:r>
              <a:rPr lang="en-US" dirty="0"/>
              <a:t>=  (0, 0, 1).  Neither single surface fires; full catches through cross-surface correlation. (Bridge cases)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 err="1"/>
              <a:t>detection_gap</a:t>
            </a:r>
            <a:r>
              <a:rPr lang="en-US" b="1" dirty="0"/>
              <a:t>  </a:t>
            </a:r>
            <a:r>
              <a:rPr lang="en-US" dirty="0"/>
              <a:t>=  (0, 0, 0).  No rule fires anywhere; reported as a coverage finding. (Alpha </a:t>
            </a:r>
            <a:r>
              <a:rPr lang="en-US" dirty="0" err="1"/>
              <a:t>Homora</a:t>
            </a:r>
            <a:r>
              <a:rPr lang="en-US" dirty="0"/>
              <a:t> v2 2021)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ABA25-99D3-8FD3-AFCE-D254C534F963}"/>
              </a:ext>
            </a:extLst>
          </p:cNvPr>
          <p:cNvSpPr txBox="1"/>
          <p:nvPr/>
        </p:nvSpPr>
        <p:spPr>
          <a:xfrm>
            <a:off x="719946" y="1558709"/>
            <a:ext cx="6771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"/>
              </a:rPr>
              <a:t>Partition by recall triple (</a:t>
            </a:r>
            <a:r>
              <a:rPr lang="en-US" sz="2000" b="1" dirty="0" err="1">
                <a:latin typeface=""/>
              </a:rPr>
              <a:t>R_contract</a:t>
            </a:r>
            <a:r>
              <a:rPr lang="en-US" sz="2000" b="1" dirty="0">
                <a:latin typeface=""/>
              </a:rPr>
              <a:t>, </a:t>
            </a:r>
            <a:r>
              <a:rPr lang="en-US" sz="2000" b="1" dirty="0" err="1">
                <a:latin typeface=""/>
              </a:rPr>
              <a:t>R_oracle</a:t>
            </a:r>
            <a:r>
              <a:rPr lang="en-US" sz="2000" b="1" dirty="0">
                <a:latin typeface=""/>
              </a:rPr>
              <a:t>, </a:t>
            </a:r>
            <a:r>
              <a:rPr lang="en-US" sz="2000" b="1" dirty="0" err="1">
                <a:latin typeface=""/>
              </a:rPr>
              <a:t>R_full</a:t>
            </a:r>
            <a:r>
              <a:rPr lang="en-US" sz="2000" b="1" dirty="0">
                <a:latin typeface=""/>
              </a:rPr>
              <a:t>):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6E4FD-5FF2-C236-B823-ABD6C60BF3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87146" y="2071276"/>
            <a:ext cx="5602518" cy="33419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433305-405D-8CF8-C970-C7AF043A1665}"/>
              </a:ext>
            </a:extLst>
          </p:cNvPr>
          <p:cNvSpPr txBox="1"/>
          <p:nvPr/>
        </p:nvSpPr>
        <p:spPr>
          <a:xfrm>
            <a:off x="7864458" y="5486971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2120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1.3: Per-case CDG on Inverse Finance 2022.</a:t>
            </a:r>
          </a:p>
        </p:txBody>
      </p:sp>
    </p:spTree>
    <p:extLst>
      <p:ext uri="{BB962C8B-B14F-4D97-AF65-F5344CB8AC3E}">
        <p14:creationId xmlns:p14="http://schemas.microsoft.com/office/powerpoint/2010/main" val="282022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FEDB-DE78-D3F8-4CE2-3ED576FF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12C441-87FD-B407-84CE-ACF3423EEBE9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56D5C-A30F-99D0-55EF-5C794F878F1B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D567A-FE06-8170-D25E-21B2F83F2DA3}"/>
              </a:ext>
            </a:extLst>
          </p:cNvPr>
          <p:cNvSpPr txBox="1"/>
          <p:nvPr/>
        </p:nvSpPr>
        <p:spPr>
          <a:xfrm>
            <a:off x="856110" y="411480"/>
            <a:ext cx="104797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7</a:t>
            </a:r>
            <a:r>
              <a:rPr dirty="0"/>
              <a:t>. Research Methodology (</a:t>
            </a:r>
            <a:r>
              <a:rPr lang="en-US" dirty="0"/>
              <a:t>7/8</a:t>
            </a:r>
            <a:r>
              <a:rPr dirty="0"/>
              <a:t>)</a:t>
            </a:r>
            <a:r>
              <a:rPr lang="en-US" dirty="0"/>
              <a:t>: Calibration Discipline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D803E-8335-A5B7-8BAE-496D792E50F6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21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4D2C0-4466-C30D-02C7-DDDD94421BAF}"/>
              </a:ext>
            </a:extLst>
          </p:cNvPr>
          <p:cNvSpPr txBox="1"/>
          <p:nvPr/>
        </p:nvSpPr>
        <p:spPr>
          <a:xfrm>
            <a:off x="856110" y="1780468"/>
            <a:ext cx="9986637" cy="4203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1.  Binary recall:</a:t>
            </a:r>
            <a:r>
              <a:rPr lang="en-US" dirty="0"/>
              <a:t>  R = 1 </a:t>
            </a:r>
            <a:r>
              <a:rPr lang="en-US" dirty="0" err="1"/>
              <a:t>iff</a:t>
            </a:r>
            <a:r>
              <a:rPr lang="en-US" dirty="0"/>
              <a:t> at least one attack event exceeds threshold; sensitivity sweeps compare against max-attack-value, not first-hit.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2.  Conservative 10x operating point:  </a:t>
            </a:r>
            <a:r>
              <a:rPr lang="en-US" dirty="0"/>
              <a:t>Numeric rules calibrate at 10x the rule's natural benign statistic in the pre-attack window.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3.  Empirical FPR check: </a:t>
            </a:r>
            <a:r>
              <a:rPr lang="en-US" dirty="0"/>
              <a:t> Structural, temporal, and trace-level rules require a Dune-empirical FPR verification, not just a derivation argument.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4.  CDG = (0, 0) reported with mechanism:  </a:t>
            </a:r>
            <a:r>
              <a:rPr lang="en-US" dirty="0"/>
              <a:t>Distinguish </a:t>
            </a:r>
            <a:r>
              <a:rPr lang="en-US" dirty="0" err="1"/>
              <a:t>positive_zero</a:t>
            </a:r>
            <a:r>
              <a:rPr lang="en-US" dirty="0"/>
              <a:t> (both single surfaces catch) from </a:t>
            </a:r>
            <a:r>
              <a:rPr lang="en-US" dirty="0" err="1"/>
              <a:t>detection_gap</a:t>
            </a:r>
            <a:r>
              <a:rPr lang="en-US" dirty="0"/>
              <a:t> (no rule catches).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5.  Anti-circularity:  </a:t>
            </a:r>
            <a:r>
              <a:rPr lang="en-US" dirty="0"/>
              <a:t>Threshold selection anchored on benign data first, never on attack outcome. Wording avoids the form, select the threshold that fires on the attack.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083CA-A2DD-354E-9C68-2B1F2F747437}"/>
              </a:ext>
            </a:extLst>
          </p:cNvPr>
          <p:cNvSpPr txBox="1"/>
          <p:nvPr/>
        </p:nvSpPr>
        <p:spPr>
          <a:xfrm>
            <a:off x="856110" y="1380358"/>
            <a:ext cx="646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"/>
              </a:rPr>
              <a:t>Five anchor rules carried through every calibration:</a:t>
            </a:r>
          </a:p>
        </p:txBody>
      </p:sp>
    </p:spTree>
    <p:extLst>
      <p:ext uri="{BB962C8B-B14F-4D97-AF65-F5344CB8AC3E}">
        <p14:creationId xmlns:p14="http://schemas.microsoft.com/office/powerpoint/2010/main" val="295486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F1EE-A552-E4A2-C084-3FCC3329E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3402E3-6607-08D3-240C-64638C25058E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E5E079-F26D-E80D-C55B-5E993376777B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4901C-4739-11CF-3BE7-609B211CF84A}"/>
              </a:ext>
            </a:extLst>
          </p:cNvPr>
          <p:cNvSpPr txBox="1"/>
          <p:nvPr/>
        </p:nvSpPr>
        <p:spPr>
          <a:xfrm>
            <a:off x="968673" y="411480"/>
            <a:ext cx="102546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7</a:t>
            </a:r>
            <a:r>
              <a:rPr sz="2800" dirty="0"/>
              <a:t>. Research Methodology (</a:t>
            </a:r>
            <a:r>
              <a:rPr lang="en-US" sz="2800" dirty="0"/>
              <a:t>8/8</a:t>
            </a:r>
            <a:r>
              <a:rPr sz="2800" dirty="0"/>
              <a:t>)</a:t>
            </a:r>
            <a:r>
              <a:rPr lang="en-US" sz="2800" dirty="0"/>
              <a:t>: </a:t>
            </a:r>
            <a:r>
              <a:rPr lang="en-US" sz="2800" dirty="0" err="1"/>
              <a:t>GraphSignalGate</a:t>
            </a:r>
            <a:r>
              <a:rPr lang="en-US" sz="2800" dirty="0"/>
              <a:t> + Layer D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F5BA8-E16F-71BE-9EE8-BDE67654D8C6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22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4D53E-3BF4-9210-4794-928B67555ED1}"/>
              </a:ext>
            </a:extLst>
          </p:cNvPr>
          <p:cNvSpPr txBox="1"/>
          <p:nvPr/>
        </p:nvSpPr>
        <p:spPr>
          <a:xfrm>
            <a:off x="388029" y="1068552"/>
            <a:ext cx="5573859" cy="4952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b="1" dirty="0"/>
              <a:t>GSG-witness-inclusive: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dirty="0" err="1"/>
              <a:t>SlowMode</a:t>
            </a:r>
            <a:r>
              <a:rPr lang="en-US" sz="1600" dirty="0"/>
              <a:t> fires when at least two surfaces in {contract, oracle} register a Layer B firing within an inclusive window. Parameter-free at the policy layer: no per-rule numeric threshold.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sz="1600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b="1" dirty="0"/>
              <a:t>Policy 3B (bridge-terminal):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dirty="0"/>
              <a:t>Each calibrated bridge rule (CR-B1, CR-B2) is an independent terminal trigger. </a:t>
            </a:r>
            <a:r>
              <a:rPr lang="en-US" sz="1600" dirty="0" err="1"/>
              <a:t>SlowMode</a:t>
            </a:r>
            <a:r>
              <a:rPr lang="en-US" sz="1600" dirty="0"/>
              <a:t> fires on bridge alone with no contract or oracle witness required.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sz="1600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b="1" dirty="0"/>
              <a:t>Why asymmetric: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sz="1600" dirty="0"/>
              <a:t>Cross-chain message-validation bugs and signature-forgery attacks need not touch any contract or oracle on the destination chain. Requiring a witness </a:t>
            </a:r>
            <a:r>
              <a:rPr lang="en-US" sz="1600" dirty="0" err="1"/>
              <a:t>misspecifies</a:t>
            </a:r>
            <a:r>
              <a:rPr lang="en-US" sz="1600" dirty="0"/>
              <a:t> the threat model.</a:t>
            </a:r>
            <a:endParaRPr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AB5B8-8603-0FF4-FFF9-2EEAA22683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3885" y="1724002"/>
            <a:ext cx="5710086" cy="30796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22DA86-8255-FE50-2F0A-E22F47771104}"/>
              </a:ext>
            </a:extLst>
          </p:cNvPr>
          <p:cNvSpPr txBox="1"/>
          <p:nvPr/>
        </p:nvSpPr>
        <p:spPr>
          <a:xfrm>
            <a:off x="7788995" y="4922520"/>
            <a:ext cx="2319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3.6: GSG-3 bridge-terminal policy.</a:t>
            </a:r>
          </a:p>
        </p:txBody>
      </p:sp>
    </p:spTree>
    <p:extLst>
      <p:ext uri="{BB962C8B-B14F-4D97-AF65-F5344CB8AC3E}">
        <p14:creationId xmlns:p14="http://schemas.microsoft.com/office/powerpoint/2010/main" val="1514593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A0B7-5E84-A4C5-E35E-D88BEC03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2E368C-1221-43E1-A8D4-1A842C2AE604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3F1AC-2A00-4BF0-3FBF-3135E581EB8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D608F-1029-2596-7251-234D1FB495DA}"/>
              </a:ext>
            </a:extLst>
          </p:cNvPr>
          <p:cNvSpPr txBox="1"/>
          <p:nvPr/>
        </p:nvSpPr>
        <p:spPr>
          <a:xfrm>
            <a:off x="2332004" y="411480"/>
            <a:ext cx="75280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1: Mango Markets 2022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36641-E949-4B7F-011C-09844ECF9EE9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23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771B6-7483-9F56-4525-BB42C19952A1}"/>
              </a:ext>
            </a:extLst>
          </p:cNvPr>
          <p:cNvSpPr txBox="1"/>
          <p:nvPr/>
        </p:nvSpPr>
        <p:spPr>
          <a:xfrm>
            <a:off x="358288" y="1437452"/>
            <a:ext cx="5621348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Chain</a:t>
            </a:r>
            <a:r>
              <a:rPr lang="en-US" dirty="0"/>
              <a:t>:  Solana    </a:t>
            </a:r>
            <a:r>
              <a:rPr lang="en-US" b="1" dirty="0"/>
              <a:t>Loss</a:t>
            </a:r>
            <a:r>
              <a:rPr lang="en-US" dirty="0"/>
              <a:t>:  $117M  [9]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Mechanism</a:t>
            </a:r>
            <a:r>
              <a:rPr lang="en-US" dirty="0"/>
              <a:t>:  MNGO spot pump from $0.03 to over $0.91 across three exchanges feeding </a:t>
            </a:r>
            <a:r>
              <a:rPr lang="en-US" dirty="0" err="1"/>
              <a:t>Pyth</a:t>
            </a:r>
            <a:r>
              <a:rPr lang="en-US" dirty="0"/>
              <a:t>. Inflated collateral used to borrow the treasury.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Contract surface</a:t>
            </a:r>
            <a:r>
              <a:rPr lang="en-US" dirty="0"/>
              <a:t>:  CR-2 fires on oversized borrow.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Oracle surface:</a:t>
            </a:r>
            <a:r>
              <a:rPr lang="en-US" dirty="0"/>
              <a:t>  CR-1 fires at 4.48x benign max under the legacy 2x Mango oracle threshold.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CDG = (0, 0)</a:t>
            </a:r>
            <a:r>
              <a:rPr lang="en-US" dirty="0"/>
              <a:t>:  Both single surfaces and the full configuration catch.  </a:t>
            </a:r>
            <a:r>
              <a:rPr lang="en-US" i="1" dirty="0"/>
              <a:t>Cross-domain configuration confirms but does not exceed.</a:t>
            </a:r>
            <a:endParaRPr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847A1-976F-DFF5-3ED5-C08904A91BAE}"/>
              </a:ext>
            </a:extLst>
          </p:cNvPr>
          <p:cNvSpPr txBox="1"/>
          <p:nvPr/>
        </p:nvSpPr>
        <p:spPr>
          <a:xfrm>
            <a:off x="2331973" y="967037"/>
            <a:ext cx="771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"/>
              </a:rPr>
              <a:t>positive_zero</a:t>
            </a:r>
            <a:r>
              <a:rPr lang="en-US" b="1" dirty="0">
                <a:latin typeface=""/>
              </a:rPr>
              <a:t> bucket; CDG = (0, 0) is the active-detection equilibrium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DE666C-AE76-480D-66CA-1CE75D5B9B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77759" y="1617413"/>
            <a:ext cx="5760085" cy="4273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BC9DF-F2FE-0E74-743E-4D1F90FF3779}"/>
              </a:ext>
            </a:extLst>
          </p:cNvPr>
          <p:cNvSpPr txBox="1"/>
          <p:nvPr/>
        </p:nvSpPr>
        <p:spPr>
          <a:xfrm>
            <a:off x="7518945" y="6009835"/>
            <a:ext cx="28777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"/>
              </a:rPr>
              <a:t>Figure 3.4: Mango Markets 2022 attack mechanism. </a:t>
            </a:r>
          </a:p>
        </p:txBody>
      </p:sp>
    </p:spTree>
    <p:extLst>
      <p:ext uri="{BB962C8B-B14F-4D97-AF65-F5344CB8AC3E}">
        <p14:creationId xmlns:p14="http://schemas.microsoft.com/office/powerpoint/2010/main" val="1591201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44E95-1B17-E60D-5216-138D0FC0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717796-D968-2F62-51FE-60C4BD2B6B6B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34899-64F3-14BC-3275-2A4B8397DBA8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558CD-727E-5410-87ED-69BEB1039572}"/>
              </a:ext>
            </a:extLst>
          </p:cNvPr>
          <p:cNvSpPr txBox="1"/>
          <p:nvPr/>
        </p:nvSpPr>
        <p:spPr>
          <a:xfrm>
            <a:off x="2322389" y="411480"/>
            <a:ext cx="75472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2: Inverse Finance 2022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E6198-1534-1F03-6C2D-1986E67169B9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24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EEAC4-3919-DC25-49D1-D7DB52B6A4A0}"/>
              </a:ext>
            </a:extLst>
          </p:cNvPr>
          <p:cNvSpPr txBox="1"/>
          <p:nvPr/>
        </p:nvSpPr>
        <p:spPr>
          <a:xfrm>
            <a:off x="686810" y="1652527"/>
            <a:ext cx="10818380" cy="439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Chain</a:t>
            </a:r>
            <a:r>
              <a:rPr lang="en-US" dirty="0"/>
              <a:t>:  Ethereum    </a:t>
            </a:r>
            <a:r>
              <a:rPr lang="en-US" b="1" dirty="0"/>
              <a:t>On-chain borrow</a:t>
            </a:r>
            <a:r>
              <a:rPr lang="en-US" dirty="0"/>
              <a:t>:  $13.57M  [14]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Mechanism:</a:t>
            </a:r>
            <a:r>
              <a:rPr lang="en-US" dirty="0"/>
              <a:t>  901 ETH pre-funded via Tornado Cash. Two ETH buys on Uniswap inflate INV/ETH spot. Inverse Keep3r TWAP reads the inflated price. Attacker mints </a:t>
            </a:r>
            <a:r>
              <a:rPr lang="en-US" dirty="0" err="1"/>
              <a:t>xINV</a:t>
            </a:r>
            <a:r>
              <a:rPr lang="en-US" dirty="0"/>
              <a:t>, presents inflated collateral, and borrows across four markets in one transaction.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Calibrated thresholds: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Contract:  10x $1.65M = $16.49M.  Attack borrow $13.57M is below threshold.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Oracle:  Keep3r TWAP bridge detected structurally at 11:03:54 UTC.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Contract-only</a:t>
            </a:r>
            <a:r>
              <a:rPr lang="en-US" dirty="0"/>
              <a:t>:  MISSED  (R = 0).    </a:t>
            </a:r>
            <a:r>
              <a:rPr lang="en-US" b="1" dirty="0"/>
              <a:t>Oracle-only</a:t>
            </a:r>
            <a:r>
              <a:rPr lang="en-US" dirty="0"/>
              <a:t>:  CAUGHT  (R = 1).    </a:t>
            </a:r>
            <a:r>
              <a:rPr lang="en-US" b="1" dirty="0"/>
              <a:t>Full</a:t>
            </a:r>
            <a:r>
              <a:rPr lang="en-US" dirty="0"/>
              <a:t>:  CAUGHT.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CDG = (1, 0):  </a:t>
            </a:r>
            <a:r>
              <a:rPr lang="en-US" dirty="0"/>
              <a:t>Attacker borrowed just below the contract threshold. Oracle corroboration is the only path to detection.</a:t>
            </a:r>
            <a:endParaRPr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D11DD-7D1E-3880-E3D8-A4AA410908ED}"/>
              </a:ext>
            </a:extLst>
          </p:cNvPr>
          <p:cNvSpPr txBox="1"/>
          <p:nvPr/>
        </p:nvSpPr>
        <p:spPr>
          <a:xfrm>
            <a:off x="2470648" y="996255"/>
            <a:ext cx="7250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"/>
              </a:rPr>
              <a:t>one_zero</a:t>
            </a:r>
            <a:r>
              <a:rPr lang="en-US" b="1" dirty="0">
                <a:latin typeface=""/>
              </a:rPr>
              <a:t> bucket; oracle corroboration is the only detection path</a:t>
            </a:r>
          </a:p>
        </p:txBody>
      </p:sp>
    </p:spTree>
    <p:extLst>
      <p:ext uri="{BB962C8B-B14F-4D97-AF65-F5344CB8AC3E}">
        <p14:creationId xmlns:p14="http://schemas.microsoft.com/office/powerpoint/2010/main" val="1092600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B631-6F57-DD35-B068-CE5A60AF7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701C9-F5BB-FDE0-1A40-A8FF5D4579EC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62C1F9-6AE1-68CA-3EEF-F1E037346DF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132BC-4ADF-0ED3-016F-E5579FACFDA4}"/>
              </a:ext>
            </a:extLst>
          </p:cNvPr>
          <p:cNvSpPr txBox="1"/>
          <p:nvPr/>
        </p:nvSpPr>
        <p:spPr>
          <a:xfrm>
            <a:off x="2280713" y="411480"/>
            <a:ext cx="76306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3: Harvest Finance 2020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437A4-43A9-7187-8761-CC6040609661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25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512F1-F97F-892E-D398-17E70386A75B}"/>
              </a:ext>
            </a:extLst>
          </p:cNvPr>
          <p:cNvSpPr txBox="1"/>
          <p:nvPr/>
        </p:nvSpPr>
        <p:spPr>
          <a:xfrm>
            <a:off x="686855" y="1495549"/>
            <a:ext cx="10604461" cy="464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Chain</a:t>
            </a:r>
            <a:r>
              <a:rPr lang="en-US" dirty="0"/>
              <a:t>:  Ethereum    </a:t>
            </a:r>
            <a:r>
              <a:rPr lang="en-US" b="1" dirty="0"/>
              <a:t>Loss</a:t>
            </a:r>
            <a:r>
              <a:rPr lang="en-US" dirty="0"/>
              <a:t>:  approximately $34M    </a:t>
            </a:r>
            <a:r>
              <a:rPr lang="en-US" b="1" dirty="0"/>
              <a:t>Rounds</a:t>
            </a:r>
            <a:r>
              <a:rPr lang="en-US" dirty="0"/>
              <a:t>:  9  [15]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Mechanism</a:t>
            </a:r>
            <a:r>
              <a:rPr lang="en-US" dirty="0"/>
              <a:t>: Flash loan, USDC to USDT swap in Curve y-pool </a:t>
            </a:r>
            <a:r>
              <a:rPr lang="en-US" dirty="0" err="1"/>
              <a:t>depegs</a:t>
            </a:r>
            <a:r>
              <a:rPr lang="en-US" dirty="0"/>
              <a:t> USDC by approximately 1% (below Harvest's 3% circuit breaker). Vault NAV computed from Curve price is understated. Attacker deposits at deflated NAV and withdraws at restored NAV.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Calibrated thresholds</a:t>
            </a:r>
            <a:r>
              <a:rPr lang="en-US" dirty="0"/>
              <a:t>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Oracle:  2x 3.3% benign max = 6.6%.  Attack 1.0% deviation is </a:t>
            </a:r>
            <a:r>
              <a:rPr lang="en-US" b="1" dirty="0"/>
              <a:t>structurally below the noise floor.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Contract:  10x $16.16M = $161.57M.  Attack max single-</a:t>
            </a:r>
            <a:r>
              <a:rPr lang="en-US" dirty="0" err="1"/>
              <a:t>tx</a:t>
            </a:r>
            <a:r>
              <a:rPr lang="en-US" dirty="0"/>
              <a:t> deposit $166.68M crosses threshold.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Full graph: </a:t>
            </a:r>
            <a:r>
              <a:rPr lang="en-US" dirty="0"/>
              <a:t>catches via CR-2 on the $166.68M deposit.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CDG = (0, 1): </a:t>
            </a:r>
            <a:r>
              <a:rPr lang="en-US" dirty="0"/>
              <a:t>no gain over contract, +1 gain over oracle.</a:t>
            </a:r>
            <a:endParaRPr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2E75C-774B-8351-FB98-2F5B552252A3}"/>
              </a:ext>
            </a:extLst>
          </p:cNvPr>
          <p:cNvSpPr txBox="1"/>
          <p:nvPr/>
        </p:nvSpPr>
        <p:spPr>
          <a:xfrm>
            <a:off x="3126763" y="89573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 </a:t>
            </a:r>
            <a:r>
              <a:rPr lang="en-US" b="1" dirty="0" err="1">
                <a:latin typeface=""/>
              </a:rPr>
              <a:t>zero_one</a:t>
            </a:r>
            <a:r>
              <a:rPr lang="en-US" b="1" dirty="0">
                <a:latin typeface=""/>
              </a:rPr>
              <a:t> bucket; contract catches, oracle is blind</a:t>
            </a:r>
          </a:p>
        </p:txBody>
      </p:sp>
    </p:spTree>
    <p:extLst>
      <p:ext uri="{BB962C8B-B14F-4D97-AF65-F5344CB8AC3E}">
        <p14:creationId xmlns:p14="http://schemas.microsoft.com/office/powerpoint/2010/main" val="4254605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DC9A7-F5A2-6382-B734-4AD88B745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E37575-B2AE-4A20-0BFF-A6E50093D76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08336-5349-5564-EBFD-DD884DF29ED6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ABC90-6ABF-8AC6-C85E-892A14D9F3C0}"/>
              </a:ext>
            </a:extLst>
          </p:cNvPr>
          <p:cNvSpPr txBox="1"/>
          <p:nvPr/>
        </p:nvSpPr>
        <p:spPr>
          <a:xfrm>
            <a:off x="1987363" y="411480"/>
            <a:ext cx="821731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Case Study 4: Bridge Surface (Layer D)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4C4D7-0C1E-D66E-5194-B15F5DEC5380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26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D0C1-BA05-E204-BBDB-A1F20E6036B7}"/>
              </a:ext>
            </a:extLst>
          </p:cNvPr>
          <p:cNvSpPr txBox="1"/>
          <p:nvPr/>
        </p:nvSpPr>
        <p:spPr>
          <a:xfrm>
            <a:off x="1850831" y="996255"/>
            <a:ext cx="8490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"/>
              </a:rPr>
              <a:t>Four bridge cases; CALIBRATED versus HYPOTHESIS distinction preserved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8F9F99-3344-A485-C0F2-751771122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55972"/>
              </p:ext>
            </p:extLst>
          </p:nvPr>
        </p:nvGraphicFramePr>
        <p:xfrm>
          <a:off x="1784835" y="1828017"/>
          <a:ext cx="8622329" cy="2524064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682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7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38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Case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Rule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Prevented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Lead time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07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Wormhole 2022 ($320M) [10]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CR-B1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CALIBRATED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$320M (1/1 event)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07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Nomad 2022 ($190M </a:t>
                      </a:r>
                      <a:r>
                        <a:rPr sz="1400" dirty="0" err="1">
                          <a:solidFill>
                            <a:srgbClr val="1F1F1F"/>
                          </a:solidFill>
                          <a:latin typeface=""/>
                        </a:rPr>
                        <a:t>agg</a:t>
                      </a:r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.) [11]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CR-B2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CALIBRATED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$25.7M (representative)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65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PolyNetwork 2021 ($611M) [16]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CR-B3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HYPOTHESIS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$273M (counterfactual)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007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THORChain July 22 ($8M) [17]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CR-B4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HYPOTHESIS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$8M (counterfactual)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0 blocks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3F9CEB-7CDF-FF73-26F3-18059750AD07}"/>
              </a:ext>
            </a:extLst>
          </p:cNvPr>
          <p:cNvSpPr txBox="1"/>
          <p:nvPr/>
        </p:nvSpPr>
        <p:spPr>
          <a:xfrm>
            <a:off x="567159" y="4629844"/>
            <a:ext cx="104405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"/>
              </a:rPr>
              <a:t>Payload-embedding class (this work):  </a:t>
            </a:r>
            <a:r>
              <a:rPr lang="en-US" dirty="0" err="1">
                <a:latin typeface=""/>
              </a:rPr>
              <a:t>PolyNetwork's</a:t>
            </a:r>
            <a:r>
              <a:rPr lang="en-US" dirty="0">
                <a:latin typeface=""/>
              </a:rPr>
              <a:t> keeper replacement routes a malicious instruction inside the cross-chain message data, not the function selector. A 30-day pre-attack benign window contains 4,505 transactions with the same trace-level fingerprint. On-chain selector-level rule-based detection cannot resolve this class in principle.</a:t>
            </a:r>
          </a:p>
        </p:txBody>
      </p:sp>
    </p:spTree>
    <p:extLst>
      <p:ext uri="{BB962C8B-B14F-4D97-AF65-F5344CB8AC3E}">
        <p14:creationId xmlns:p14="http://schemas.microsoft.com/office/powerpoint/2010/main" val="3364521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8C2-97B5-CC6C-79F2-1B24B4C7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E6AC25-E3E0-D4F3-1B41-E5A4BA82DA6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10823-3EF6-67D5-F725-011C1C4D6E01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2363A5-EC60-253A-D876-F853133AC28F}"/>
              </a:ext>
            </a:extLst>
          </p:cNvPr>
          <p:cNvSpPr txBox="1"/>
          <p:nvPr/>
        </p:nvSpPr>
        <p:spPr>
          <a:xfrm>
            <a:off x="909346" y="411480"/>
            <a:ext cx="103733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1/5</a:t>
            </a:r>
            <a:r>
              <a:rPr sz="2800" dirty="0"/>
              <a:t>)</a:t>
            </a:r>
            <a:r>
              <a:rPr lang="en-US" sz="2800" dirty="0"/>
              <a:t>: Detection Rate by Stratum and CDG bucket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DCCC7-5616-E9C9-6E63-A5EAA8B93FC4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E39FF-9019-9CD4-DD91-27D9C169B854}"/>
              </a:ext>
            </a:extLst>
          </p:cNvPr>
          <p:cNvSpPr txBox="1"/>
          <p:nvPr/>
        </p:nvSpPr>
        <p:spPr>
          <a:xfrm>
            <a:off x="539688" y="1258213"/>
            <a:ext cx="5484085" cy="4341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29 of 30 in-scope cases</a:t>
            </a:r>
            <a:r>
              <a:rPr lang="en-US" dirty="0"/>
              <a:t> detected at the canonical 10x calibration.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Single miss</a:t>
            </a:r>
            <a:r>
              <a:rPr lang="en-US" dirty="0"/>
              <a:t>:  Alpha </a:t>
            </a:r>
            <a:r>
              <a:rPr lang="en-US" dirty="0" err="1"/>
              <a:t>Homora</a:t>
            </a:r>
            <a:r>
              <a:rPr lang="en-US" dirty="0"/>
              <a:t> v2 2021.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Reentrancy through </a:t>
            </a:r>
            <a:r>
              <a:rPr lang="en-US" dirty="0" err="1"/>
              <a:t>HomoraBank.work</a:t>
            </a:r>
            <a:r>
              <a:rPr lang="en-US" dirty="0"/>
              <a:t>. Sub-threshold for CR-1, CR-2, and CR-5. </a:t>
            </a:r>
            <a:r>
              <a:rPr lang="en-US" b="1" dirty="0"/>
              <a:t>Reported as a coverage gap</a:t>
            </a:r>
            <a:r>
              <a:rPr lang="en-US" dirty="0"/>
              <a:t>, not relaxed away.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Five </a:t>
            </a:r>
            <a:r>
              <a:rPr lang="en-US" b="1" dirty="0" err="1"/>
              <a:t>one_one</a:t>
            </a:r>
            <a:r>
              <a:rPr lang="en-US" b="1" dirty="0"/>
              <a:t> cases</a:t>
            </a:r>
            <a:r>
              <a:rPr lang="en-US" dirty="0"/>
              <a:t>: Wormhole and Nomad (CALIBRATED), </a:t>
            </a:r>
            <a:r>
              <a:rPr lang="en-US" dirty="0" err="1"/>
              <a:t>PolyNetwork</a:t>
            </a:r>
            <a:r>
              <a:rPr lang="en-US" dirty="0"/>
              <a:t> and </a:t>
            </a:r>
            <a:r>
              <a:rPr lang="en-US" dirty="0" err="1"/>
              <a:t>THORChain</a:t>
            </a:r>
            <a:r>
              <a:rPr lang="en-US" dirty="0"/>
              <a:t> July 22 (HYPOTHESIS), and one Tier 2 case via the temporal cumulative correlation pathway.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054009-FB6D-0FA5-3A51-3F0673858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699024"/>
              </p:ext>
            </p:extLst>
          </p:nvPr>
        </p:nvGraphicFramePr>
        <p:xfrm>
          <a:off x="6307430" y="1395324"/>
          <a:ext cx="5244104" cy="18288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2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Stratum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Detected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Rate (Wilson 95%)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Tier 1 (per-</a:t>
                      </a:r>
                      <a:r>
                        <a:rPr sz="1400" dirty="0" err="1">
                          <a:solidFill>
                            <a:srgbClr val="1F1F1F"/>
                          </a:solidFill>
                        </a:rPr>
                        <a:t>tx</a:t>
                      </a:r>
                      <a:r>
                        <a:rPr sz="1400" dirty="0">
                          <a:solidFill>
                            <a:srgbClr val="1F1F1F"/>
                          </a:solidFill>
                        </a:rPr>
                        <a:t>)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8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9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88.89%  [56.5, 98.0]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Tier 2 (YAML depth)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21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21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100%  [85.1, 100]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Combined in-scope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29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30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96.67%  [83.3, 99.4]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0D69CF-CC11-5060-88D5-119366D91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58973"/>
              </p:ext>
            </p:extLst>
          </p:nvPr>
        </p:nvGraphicFramePr>
        <p:xfrm>
          <a:off x="6307429" y="3770092"/>
          <a:ext cx="5244104" cy="182880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906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2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sz="1600" b="1" dirty="0">
                        <a:solidFill>
                          <a:srgbClr val="FFFFF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positive_zero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12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one_zero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zero_one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11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one_one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5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13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</a:rPr>
                        <a:t>detection_gap</a:t>
                      </a:r>
                      <a:endParaRPr sz="140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</a:rPr>
                        <a:t>1  (Alpha </a:t>
                      </a:r>
                      <a:r>
                        <a:rPr sz="1400" dirty="0" err="1">
                          <a:solidFill>
                            <a:srgbClr val="1F1F1F"/>
                          </a:solidFill>
                        </a:rPr>
                        <a:t>Homora</a:t>
                      </a:r>
                      <a:r>
                        <a:rPr sz="1400" dirty="0">
                          <a:solidFill>
                            <a:srgbClr val="1F1F1F"/>
                          </a:solidFill>
                        </a:rPr>
                        <a:t> v2)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27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FA0F-00E2-FAEB-5CF6-99DC48065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59C758-DD5A-6233-A52F-D4C017B205F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C0749-8B1B-0DE2-15BD-65D5F5AC370F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2793B-5584-BD44-A5D9-915C2B62E72B}"/>
              </a:ext>
            </a:extLst>
          </p:cNvPr>
          <p:cNvSpPr txBox="1"/>
          <p:nvPr/>
        </p:nvSpPr>
        <p:spPr>
          <a:xfrm>
            <a:off x="2271838" y="411480"/>
            <a:ext cx="76483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2/5</a:t>
            </a:r>
            <a:r>
              <a:rPr sz="2800" dirty="0"/>
              <a:t>)</a:t>
            </a:r>
            <a:r>
              <a:rPr lang="en-US" sz="2800" dirty="0"/>
              <a:t>: Per-case CDG vector, Tier 1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257FD-DEA3-0278-7122-9E4ADF2572B2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28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DD4C3-9E69-9C60-1C06-0FBA12C68BB3}"/>
              </a:ext>
            </a:extLst>
          </p:cNvPr>
          <p:cNvSpPr txBox="1"/>
          <p:nvPr/>
        </p:nvSpPr>
        <p:spPr>
          <a:xfrm>
            <a:off x="356808" y="1185061"/>
            <a:ext cx="5484085" cy="495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Tier 1 corpus-level CDG:</a:t>
            </a:r>
            <a:endParaRPr lang="en-US" dirty="0"/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vs contract baseline:  +0.33    (3 of 9 cases contribute +1)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vs oracle baseline:  +0.44    (4 of 9 cases contribute +1)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Asymmetry</a:t>
            </a:r>
            <a:r>
              <a:rPr lang="en-US" dirty="0"/>
              <a:t>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The oracle baseline is blind on two </a:t>
            </a:r>
            <a:r>
              <a:rPr lang="en-US" dirty="0" err="1"/>
              <a:t>zero_one</a:t>
            </a:r>
            <a:r>
              <a:rPr lang="en-US" dirty="0"/>
              <a:t> cases (Harvest, Euler) in the Tier 1 sample, so the marginal recall over oracle-only is larger than over contract-only.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Reported as a property of this sample, not as a general claim about contract versus oracle detection.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DD8DA-D143-AE10-9C49-9D3B233148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934701"/>
            <a:ext cx="5385435" cy="53152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F952E6-F18E-3FBE-4C9D-41B878EC2353}"/>
              </a:ext>
            </a:extLst>
          </p:cNvPr>
          <p:cNvSpPr txBox="1"/>
          <p:nvPr/>
        </p:nvSpPr>
        <p:spPr>
          <a:xfrm>
            <a:off x="6514113" y="6257354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755" marR="288925" indent="-6350" algn="just">
              <a:lnSpc>
                <a:spcPct val="107000"/>
              </a:lnSpc>
              <a:spcAft>
                <a:spcPts val="1815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4.2: Per-case recall triple and CDG bucket for the nine Tier 1 cases at </a:t>
            </a:r>
            <a:r>
              <a:rPr lang="en-US" sz="900" i="1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K </a:t>
            </a: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= 10.</a:t>
            </a:r>
          </a:p>
        </p:txBody>
      </p:sp>
    </p:spTree>
    <p:extLst>
      <p:ext uri="{BB962C8B-B14F-4D97-AF65-F5344CB8AC3E}">
        <p14:creationId xmlns:p14="http://schemas.microsoft.com/office/powerpoint/2010/main" val="2678081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4BD8-8612-230A-852F-D3144C7A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B2AA1-AD23-38A2-0B8B-A000D2F4EF13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CAA7A6-0F64-8349-4018-BE63E0099CC7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F8DDB-26F9-C447-AE32-3B69BB419902}"/>
              </a:ext>
            </a:extLst>
          </p:cNvPr>
          <p:cNvSpPr txBox="1"/>
          <p:nvPr/>
        </p:nvSpPr>
        <p:spPr>
          <a:xfrm>
            <a:off x="2315983" y="411480"/>
            <a:ext cx="75600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3/5</a:t>
            </a:r>
            <a:r>
              <a:rPr sz="2800" dirty="0"/>
              <a:t>)</a:t>
            </a:r>
            <a:r>
              <a:rPr lang="en-US" sz="2800" dirty="0"/>
              <a:t>: Layer C Policy Comparison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94726-C60E-4876-1C5B-7C7A15744FE2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29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D4A20-2515-85D8-471B-9427F8E2AB60}"/>
              </a:ext>
            </a:extLst>
          </p:cNvPr>
          <p:cNvSpPr txBox="1"/>
          <p:nvPr/>
        </p:nvSpPr>
        <p:spPr>
          <a:xfrm>
            <a:off x="854962" y="4390791"/>
            <a:ext cx="10152698" cy="190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Catches</a:t>
            </a:r>
            <a:r>
              <a:rPr lang="en-US" dirty="0"/>
              <a:t>:  Cheese Bank, Cream Finance V2, Inverse Finance, Mango Markets, </a:t>
            </a:r>
            <a:r>
              <a:rPr lang="en-US" dirty="0" err="1"/>
              <a:t>PancakeBunny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Pareto dominance</a:t>
            </a:r>
            <a:r>
              <a:rPr lang="en-US" dirty="0"/>
              <a:t>:  GSG-WI strictly dominates </a:t>
            </a:r>
            <a:r>
              <a:rPr lang="en-US" dirty="0" err="1"/>
              <a:t>deviation_only</a:t>
            </a:r>
            <a:r>
              <a:rPr lang="en-US" dirty="0"/>
              <a:t> on the (catches, FBR-stress) two-axis comparison (5 versus 3 catches at clean-window FBR = 0; 0 versus 0.615 FBR under USDC </a:t>
            </a:r>
            <a:r>
              <a:rPr lang="en-US" dirty="0" err="1"/>
              <a:t>depeg</a:t>
            </a:r>
            <a:r>
              <a:rPr lang="en-US" dirty="0"/>
              <a:t> stress).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62399D-3363-913E-2AC5-9C445D3A4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83759"/>
              </p:ext>
            </p:extLst>
          </p:nvPr>
        </p:nvGraphicFramePr>
        <p:xfrm>
          <a:off x="1171222" y="1393639"/>
          <a:ext cx="9520178" cy="268995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80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0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7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Catches (of 12)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FBR clean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"/>
                        </a:rPr>
                        <a:t>FBR USDC stress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1F1F1F"/>
                          </a:solidFill>
                          <a:latin typeface=""/>
                        </a:rPr>
                        <a:t>freshness_only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high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0.31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 dirty="0" err="1">
                          <a:solidFill>
                            <a:srgbClr val="1F1F1F"/>
                          </a:solidFill>
                          <a:latin typeface=""/>
                        </a:rPr>
                        <a:t>deviation_only</a:t>
                      </a:r>
                      <a:endParaRPr sz="1400" dirty="0">
                        <a:solidFill>
                          <a:srgbClr val="1F1F1F"/>
                        </a:solidFill>
                        <a:latin typeface="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0.615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oracle_circuit_breaker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1.0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0.846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GSG-strict  (threshold, exclusive)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27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GSG-witness-strict  (witness, exclusive)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284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GSG-witness-inclusive  (canonical)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F1F1F"/>
                          </a:solidFill>
                          <a:latin typeface=""/>
                        </a:rPr>
                        <a:t>0</a:t>
                      </a: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063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1949-DEF6-97EB-4F21-4B81DBC82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8A69A-F1CF-1395-6F54-EBB7692CD9E1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01E64-B027-DADD-B684-6E1C0BC5671A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A208E-CEF5-ECED-78A5-CC51C490A74B}"/>
              </a:ext>
            </a:extLst>
          </p:cNvPr>
          <p:cNvSpPr txBox="1"/>
          <p:nvPr/>
        </p:nvSpPr>
        <p:spPr>
          <a:xfrm>
            <a:off x="1309301" y="411480"/>
            <a:ext cx="95734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4/5</a:t>
            </a:r>
            <a:r>
              <a:rPr sz="2800" dirty="0"/>
              <a:t>)</a:t>
            </a:r>
            <a:r>
              <a:rPr lang="en-US" sz="2800" dirty="0"/>
              <a:t>: Combined Layer C + Layer D Coverage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FF190-DC67-0439-527E-3928336DAE4A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30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76130-05E9-C90B-2C4B-1BAF1A315247}"/>
              </a:ext>
            </a:extLst>
          </p:cNvPr>
          <p:cNvSpPr txBox="1"/>
          <p:nvPr/>
        </p:nvSpPr>
        <p:spPr>
          <a:xfrm>
            <a:off x="611915" y="1090148"/>
            <a:ext cx="5484085" cy="5255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CALIBRATED coverage: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7 of 12 attack cases (58%).  </a:t>
            </a:r>
            <a:r>
              <a:rPr lang="en-US" dirty="0"/>
              <a:t>Zero false-benign rate on clean and USDC-stress windows. Zero false-positive observations on the held-out CR-5 corpus.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HYPOTHESIS extension: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9 of 12 (75%).  </a:t>
            </a:r>
            <a:r>
              <a:rPr lang="en-US" dirty="0"/>
              <a:t>Conditional on CR-B3 (payload parser) and CR-B4 (Bifrost calibration data) being implemented.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Three not caught: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Alpha </a:t>
            </a:r>
            <a:r>
              <a:rPr lang="en-US" dirty="0" err="1"/>
              <a:t>Homora</a:t>
            </a:r>
            <a:r>
              <a:rPr lang="en-US" dirty="0"/>
              <a:t> (</a:t>
            </a:r>
            <a:r>
              <a:rPr lang="en-US" dirty="0" err="1"/>
              <a:t>detection_gap</a:t>
            </a:r>
            <a:r>
              <a:rPr lang="en-US" dirty="0"/>
              <a:t>). Euler Finance (</a:t>
            </a:r>
            <a:r>
              <a:rPr lang="en-US" dirty="0" err="1"/>
              <a:t>zero_one</a:t>
            </a:r>
            <a:r>
              <a:rPr lang="en-US" dirty="0"/>
              <a:t>; witness condition correctly does not fire on a pure-logic bug). Harvest (Path B drop, mechanism caveat).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DBEEA-090B-C282-C82E-92E3F6C14E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196973"/>
            <a:ext cx="5759450" cy="2112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ECE040-7DAC-7848-8077-394F58C6BF93}"/>
              </a:ext>
            </a:extLst>
          </p:cNvPr>
          <p:cNvSpPr txBox="1"/>
          <p:nvPr/>
        </p:nvSpPr>
        <p:spPr>
          <a:xfrm>
            <a:off x="6561611" y="4427855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2120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4.4: Combined Layer C + Layer D coverage over the 12-attack-case simulator corpus.</a:t>
            </a:r>
          </a:p>
        </p:txBody>
      </p:sp>
    </p:spTree>
    <p:extLst>
      <p:ext uri="{BB962C8B-B14F-4D97-AF65-F5344CB8AC3E}">
        <p14:creationId xmlns:p14="http://schemas.microsoft.com/office/powerpoint/2010/main" val="1075710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FB67-5503-BDEA-26E0-99A71957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C7429D-A104-8391-5506-0864C0B184B3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6E938-E189-82AA-E04F-4BE9605DFC41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0EFF0-465B-8EC9-6B66-0627EBA6704E}"/>
              </a:ext>
            </a:extLst>
          </p:cNvPr>
          <p:cNvSpPr txBox="1"/>
          <p:nvPr/>
        </p:nvSpPr>
        <p:spPr>
          <a:xfrm>
            <a:off x="1791039" y="411480"/>
            <a:ext cx="86099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9</a:t>
            </a:r>
            <a:r>
              <a:rPr sz="2800" dirty="0"/>
              <a:t>. Res</a:t>
            </a:r>
            <a:r>
              <a:rPr lang="en-US" sz="2800" dirty="0"/>
              <a:t>ults</a:t>
            </a:r>
            <a:r>
              <a:rPr sz="2800" dirty="0"/>
              <a:t> (</a:t>
            </a:r>
            <a:r>
              <a:rPr lang="en-US" sz="2800" dirty="0"/>
              <a:t>5/5</a:t>
            </a:r>
            <a:r>
              <a:rPr sz="2800" dirty="0"/>
              <a:t>)</a:t>
            </a:r>
            <a:r>
              <a:rPr lang="en-US" sz="2800" dirty="0"/>
              <a:t>: Cross-corpus FPR and sensitivity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0CBB4-767C-66E2-7F22-B8EF0D476D88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31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EEA1E-5EC9-8BC0-E277-836C6D960FDE}"/>
              </a:ext>
            </a:extLst>
          </p:cNvPr>
          <p:cNvSpPr txBox="1"/>
          <p:nvPr/>
        </p:nvSpPr>
        <p:spPr>
          <a:xfrm>
            <a:off x="429960" y="1041600"/>
            <a:ext cx="5675917" cy="556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Cross-corpus FPR: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Zero false positives across 217,892 held-out decision units in 10 </a:t>
            </a:r>
            <a:r>
              <a:rPr lang="en-US" dirty="0" err="1"/>
              <a:t>case+signal</a:t>
            </a:r>
            <a:r>
              <a:rPr lang="en-US" dirty="0"/>
              <a:t> pairs across 6 decision-unit families.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Caveat:  </a:t>
            </a:r>
            <a:r>
              <a:rPr lang="en-US" dirty="0"/>
              <a:t>Finite-replay observation on the calibration corpus, not a production-deployment guarantee. Single-replication on one preregistered held-out window per signal.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b="1" dirty="0"/>
              <a:t>Threshold sensitivity: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Catch count holds at 8 of 9 across K from 1 to 50 on the nine-case Tier 1 scope. Drops by one at K = 100 (Euler).</a:t>
            </a:r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endParaRPr lang="en-US" dirty="0"/>
          </a:p>
          <a:p>
            <a: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="0" i="0">
                <a:latin typeface="Open Sans"/>
              </a:defRPr>
            </a:pPr>
            <a:r>
              <a:rPr lang="en-US" dirty="0"/>
              <a:t>The 10x operating point is one entry from a broad stable plateau, not a fragile point estimate.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A8950-B7FC-AC80-1E64-E267D86817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20399" y="1835277"/>
            <a:ext cx="5759450" cy="3455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18A8F4-9149-68CC-41A0-D0EC15AE3738}"/>
              </a:ext>
            </a:extLst>
          </p:cNvPr>
          <p:cNvSpPr txBox="1"/>
          <p:nvPr/>
        </p:nvSpPr>
        <p:spPr>
          <a:xfrm>
            <a:off x="8036052" y="5409819"/>
            <a:ext cx="6096000" cy="22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" marR="288925" indent="-6350" algn="just">
              <a:lnSpc>
                <a:spcPct val="107000"/>
              </a:lnSpc>
              <a:spcAft>
                <a:spcPts val="2165"/>
              </a:spcAft>
              <a:buNone/>
            </a:pPr>
            <a:r>
              <a:rPr lang="en-US" sz="900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Figure 4.6: Sensitivity grid across </a:t>
            </a:r>
            <a:r>
              <a:rPr lang="en-US" sz="900" i="1" kern="100" dirty="0">
                <a:solidFill>
                  <a:srgbClr val="000000"/>
                </a:solidFill>
                <a:effectLst/>
                <a:latin typeface=""/>
                <a:ea typeface="Cambria" panose="02040503050406030204" pitchFamily="18" charset="0"/>
                <a:cs typeface="Cambria" panose="02040503050406030204" pitchFamily="18" charset="0"/>
              </a:rPr>
              <a:t>K.</a:t>
            </a:r>
            <a:endParaRPr lang="en-US" sz="900" kern="100" dirty="0">
              <a:solidFill>
                <a:srgbClr val="000000"/>
              </a:solidFill>
              <a:effectLst/>
              <a:latin typeface="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084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78E3-D796-2D49-D16D-3B209100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32B28A-2238-CA95-61F1-3E2053D9C7DD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FACAB9-5F86-BDFD-ACEB-16766A7CED1F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5B31-A70B-A7C1-E264-30C000A243CB}"/>
              </a:ext>
            </a:extLst>
          </p:cNvPr>
          <p:cNvSpPr txBox="1"/>
          <p:nvPr/>
        </p:nvSpPr>
        <p:spPr>
          <a:xfrm>
            <a:off x="4055224" y="411480"/>
            <a:ext cx="40815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dirty="0"/>
              <a:t>10. Boundary Cases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A1173-D965-CE59-89B4-47FEE6917E73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32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8F112-F095-2D04-BC84-56FECA2FBD29}"/>
              </a:ext>
            </a:extLst>
          </p:cNvPr>
          <p:cNvSpPr txBox="1"/>
          <p:nvPr/>
        </p:nvSpPr>
        <p:spPr>
          <a:xfrm>
            <a:off x="382188" y="1232373"/>
            <a:ext cx="11427623" cy="439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b="1" dirty="0"/>
              <a:t>Ronin Bridge (March 2022, approximately $617M):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dirty="0"/>
              <a:t>173,600 ETH outflow = 28.9x the Wormhole-calibrated benign maximum. The on-chain symptom is unambiguously above CR-B1.  </a:t>
            </a:r>
            <a:r>
              <a:rPr lang="en-US" sz="1700" b="1" dirty="0"/>
              <a:t>Out of scope by the causal versus symptomatic boundary</a:t>
            </a:r>
            <a:r>
              <a:rPr lang="en-US" sz="1700" dirty="0"/>
              <a:t>: five of nine Sky Mavis validator keys compromised off-chain via spear-phishing. A signature from compromised keys is cryptographically valid; on-chain rules cannot distinguish it from a legitimate withdrawal.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sz="1700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b="1" dirty="0" err="1"/>
              <a:t>THORChain</a:t>
            </a:r>
            <a:r>
              <a:rPr lang="en-US" sz="1700" b="1" dirty="0"/>
              <a:t> Bifrost July 15 2021 (approximately $8M):  </a:t>
            </a:r>
            <a:r>
              <a:rPr lang="en-US" sz="1700" dirty="0"/>
              <a:t>[17]</a:t>
            </a:r>
          </a:p>
          <a:p>
            <a:pPr marL="800100" lvl="1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dirty="0"/>
              <a:t>Single-event </a:t>
            </a:r>
            <a:r>
              <a:rPr lang="en-US" sz="1700" dirty="0" err="1"/>
              <a:t>msg.value</a:t>
            </a:r>
            <a:r>
              <a:rPr lang="en-US" sz="1700" dirty="0"/>
              <a:t> override loop in the chain observer. Mechanism is consistent with CR-B4 (value-handling anomaly). </a:t>
            </a:r>
            <a:r>
              <a:rPr lang="en-US" sz="1700" b="1" dirty="0"/>
              <a:t>Excluded from the primary catch matrix at medium confidence</a:t>
            </a:r>
            <a:r>
              <a:rPr lang="en-US" sz="1700" dirty="0"/>
              <a:t>, because the exact router-interaction transaction hashes were not isolated during corpus reconstruction. July 22 (in the catch matrix) is a distinct multi-event handling failure on the same router.</a:t>
            </a:r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endParaRPr lang="en-US" sz="1700" dirty="0"/>
          </a:p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  <a:defRPr sz="1900" b="0" i="0">
                <a:latin typeface="Open Sans"/>
              </a:defRPr>
            </a:pPr>
            <a:r>
              <a:rPr lang="en-US" sz="1700" b="1" dirty="0"/>
              <a:t>Two independent boundaries:  </a:t>
            </a:r>
            <a:r>
              <a:rPr lang="en-US" sz="1700" dirty="0"/>
              <a:t>Ronin is excluded by causal mechanism. </a:t>
            </a:r>
            <a:r>
              <a:rPr lang="en-US" sz="1700" dirty="0" err="1"/>
              <a:t>THORChain</a:t>
            </a:r>
            <a:r>
              <a:rPr lang="en-US" sz="1700" dirty="0"/>
              <a:t> July 15 is excluded by reconstruction confidence. We keep both as narrative entries rather than retroactively enrich them into the headline catch counts.</a:t>
            </a:r>
          </a:p>
        </p:txBody>
      </p:sp>
    </p:spTree>
    <p:extLst>
      <p:ext uri="{BB962C8B-B14F-4D97-AF65-F5344CB8AC3E}">
        <p14:creationId xmlns:p14="http://schemas.microsoft.com/office/powerpoint/2010/main" val="1865024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1A70-4F45-CDBA-6C4D-5E200EC2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2A89BE-830D-8C55-82ED-7AC9E2BF415D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F5B902-B191-525D-E8A4-FE34CD597446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D7BA7-CAC5-C559-792F-555F44832F94}"/>
              </a:ext>
            </a:extLst>
          </p:cNvPr>
          <p:cNvSpPr txBox="1"/>
          <p:nvPr/>
        </p:nvSpPr>
        <p:spPr>
          <a:xfrm>
            <a:off x="1140176" y="411480"/>
            <a:ext cx="99116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11.1 Discussion: Authority Gap and Annotation Reliability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23AB50-AC9E-27EC-DAFE-3C59720752EE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33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4377A-B19D-3AC2-1123-DA19EA56048F}"/>
              </a:ext>
            </a:extLst>
          </p:cNvPr>
          <p:cNvSpPr txBox="1"/>
          <p:nvPr/>
        </p:nvSpPr>
        <p:spPr>
          <a:xfrm>
            <a:off x="508275" y="1305946"/>
            <a:ext cx="5256063" cy="428001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Authority gap as substantive finding</a:t>
            </a:r>
            <a:r>
              <a:rPr lang="en-US" sz="1700" b="1" i="0" dirty="0">
                <a:latin typeface=""/>
              </a:rPr>
              <a:t>:</a:t>
            </a:r>
            <a:endParaRPr sz="1700" b="1" i="0" dirty="0">
              <a:latin typeface=""/>
            </a:endParaRP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0" dirty="0">
                <a:latin typeface=""/>
              </a:rPr>
              <a:t>The four simulated bridge containment actions (BRIDGE_HALT, BRIDGE_DELAY, BRIDGE_CIRCUIT_BREAKER, BRIDGE_FLAG_ADMIN) quantify counterfactual containment value.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They are not enforceable on the live bridges of the corpus.</a:t>
            </a:r>
            <a:r>
              <a:rPr sz="1700" b="0" i="0" dirty="0">
                <a:latin typeface=""/>
              </a:rPr>
              <a:t>  No admin-pause role, no on-chain </a:t>
            </a:r>
            <a:r>
              <a:rPr sz="1700" b="0" i="0" dirty="0" err="1">
                <a:latin typeface=""/>
              </a:rPr>
              <a:t>timelock</a:t>
            </a:r>
            <a:r>
              <a:rPr sz="1700" b="0" i="0" dirty="0">
                <a:latin typeface=""/>
              </a:rPr>
              <a:t>, no human-in-the-loop authority is addressable from the simulator.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1" dirty="0">
                <a:latin typeface=""/>
              </a:rPr>
              <a:t>Reported as a finding, not a limitation.  Oracle-aware bridge governance is the operational research that would close the gap.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6AF9F0-02E3-40C3-DC8B-D0551BB043DE}"/>
              </a:ext>
            </a:extLst>
          </p:cNvPr>
          <p:cNvSpPr txBox="1"/>
          <p:nvPr/>
        </p:nvSpPr>
        <p:spPr>
          <a:xfrm>
            <a:off x="6047994" y="1356202"/>
            <a:ext cx="5604318" cy="40686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Inter-annotator agreement</a:t>
            </a:r>
            <a:r>
              <a:rPr lang="en-US" sz="1700" b="1" i="0" dirty="0">
                <a:latin typeface=""/>
              </a:rPr>
              <a:t>:</a:t>
            </a:r>
            <a:endParaRPr sz="1700" b="1" i="0" dirty="0">
              <a:latin typeface=""/>
            </a:endParaRP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0" dirty="0">
                <a:latin typeface=""/>
              </a:rPr>
              <a:t>Stratified seven-case, 35-event subset spanning all five in-scope CDG buckets.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Cohen's </a:t>
            </a:r>
            <a:r>
              <a:rPr sz="1700" b="1" i="0" dirty="0" err="1">
                <a:latin typeface=""/>
              </a:rPr>
              <a:t>κ</a:t>
            </a:r>
            <a:r>
              <a:rPr sz="1700" b="1" i="0" dirty="0">
                <a:latin typeface=""/>
              </a:rPr>
              <a:t> [12]</a:t>
            </a:r>
            <a:r>
              <a:rPr sz="1700" b="0" i="0" dirty="0">
                <a:latin typeface=""/>
              </a:rPr>
              <a:t> </a:t>
            </a:r>
            <a:r>
              <a:rPr sz="1700" b="0" i="0" dirty="0" err="1">
                <a:latin typeface=""/>
              </a:rPr>
              <a:t>surface_assignment</a:t>
            </a:r>
            <a:r>
              <a:rPr sz="1700" b="0" i="0" dirty="0">
                <a:latin typeface=""/>
              </a:rPr>
              <a:t>:  </a:t>
            </a:r>
            <a:r>
              <a:rPr sz="1700" b="1" i="0" dirty="0">
                <a:latin typeface=""/>
              </a:rPr>
              <a:t>1.000  (100%, almost perfect)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1" i="0" dirty="0">
                <a:latin typeface=""/>
              </a:rPr>
              <a:t>Cohen's </a:t>
            </a:r>
            <a:r>
              <a:rPr sz="1700" b="1" i="0" dirty="0" err="1">
                <a:latin typeface=""/>
              </a:rPr>
              <a:t>κ</a:t>
            </a:r>
            <a:r>
              <a:rPr sz="1700" b="0" i="0" dirty="0">
                <a:latin typeface=""/>
              </a:rPr>
              <a:t> </a:t>
            </a:r>
            <a:r>
              <a:rPr sz="1700" b="0" i="0" dirty="0" err="1">
                <a:latin typeface=""/>
              </a:rPr>
              <a:t>attack_step_role</a:t>
            </a:r>
            <a:r>
              <a:rPr sz="1700" b="0" i="0" dirty="0">
                <a:latin typeface=""/>
              </a:rPr>
              <a:t>:  </a:t>
            </a:r>
            <a:r>
              <a:rPr sz="1700" b="1" i="0" dirty="0">
                <a:latin typeface=""/>
              </a:rPr>
              <a:t>0.788  (82.86%, substantial)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1" dirty="0">
                <a:latin typeface=""/>
              </a:rPr>
              <a:t>Six disagreements all lie between adjacent attack-chain steps where the schema does not provide a bright-line rule for atomic multi-step transactions.</a:t>
            </a:r>
          </a:p>
          <a:p>
            <a:pPr marL="685800" lvl="1" indent="-228600">
              <a:lnSpc>
                <a:spcPct val="120000"/>
              </a:lnSpc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sz="1700" b="0" i="0" dirty="0">
                <a:latin typeface=""/>
              </a:rPr>
              <a:t>Pre-specified threshold of 0.70 cleared.  Landis and Koch (1977) </a:t>
            </a:r>
            <a:r>
              <a:rPr sz="1700" b="1" i="0" dirty="0">
                <a:latin typeface=""/>
              </a:rPr>
              <a:t>[13]</a:t>
            </a:r>
            <a:r>
              <a:rPr sz="1700" b="0" i="0" dirty="0">
                <a:latin typeface=""/>
              </a:rPr>
              <a:t> interpretation scale.</a:t>
            </a:r>
          </a:p>
        </p:txBody>
      </p:sp>
    </p:spTree>
    <p:extLst>
      <p:ext uri="{BB962C8B-B14F-4D97-AF65-F5344CB8AC3E}">
        <p14:creationId xmlns:p14="http://schemas.microsoft.com/office/powerpoint/2010/main" val="1405479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8866-6B53-5E1F-77A8-67BBF41EF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DA99FE-3D5E-6229-75E5-76A97472529F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724971-B6A9-5E35-3423-3B154082D82F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DCDB2-3382-200A-53B8-4533CC772B2C}"/>
              </a:ext>
            </a:extLst>
          </p:cNvPr>
          <p:cNvSpPr txBox="1"/>
          <p:nvPr/>
        </p:nvSpPr>
        <p:spPr>
          <a:xfrm>
            <a:off x="4652359" y="411480"/>
            <a:ext cx="28873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11.2 Limitations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1A0FC-B3B5-D40F-DD60-DB1AB4BD044A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34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684EC1-0D7D-07C6-1DB8-A8871EE21D23}"/>
              </a:ext>
            </a:extLst>
          </p:cNvPr>
          <p:cNvSpPr txBox="1"/>
          <p:nvPr/>
        </p:nvSpPr>
        <p:spPr>
          <a:xfrm>
            <a:off x="508275" y="1305945"/>
            <a:ext cx="10649720" cy="40339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L1:  </a:t>
            </a:r>
            <a:r>
              <a:rPr lang="en-US" dirty="0">
                <a:latin typeface=""/>
              </a:rPr>
              <a:t>Single-pass labelling QA on </a:t>
            </a:r>
            <a:r>
              <a:rPr lang="en-US" dirty="0" err="1">
                <a:latin typeface=""/>
              </a:rPr>
              <a:t>attack_step_role</a:t>
            </a:r>
            <a:r>
              <a:rPr lang="en-US" dirty="0">
                <a:latin typeface=""/>
              </a:rPr>
              <a:t>. Fleiss kappa over a larger event subset is reserved.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L2:  </a:t>
            </a:r>
            <a:r>
              <a:rPr lang="en-US" dirty="0">
                <a:latin typeface=""/>
              </a:rPr>
              <a:t>HYPOTHESIS status of CR-B3 and CR-B4. Calibration prerequisites not yet collected.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L3:  </a:t>
            </a:r>
            <a:r>
              <a:rPr lang="en-US" dirty="0">
                <a:latin typeface=""/>
              </a:rPr>
              <a:t>Authority gap on bridges. Simulated actions are not enforceable on live bridges.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L4:  </a:t>
            </a:r>
            <a:r>
              <a:rPr lang="en-US" dirty="0">
                <a:latin typeface=""/>
              </a:rPr>
              <a:t>Tier 2 reconstruction confidence floor. 21 of 21 Tier 2 detection rate should not be read as proof of Tier 1-equivalent rule firing.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L5:  </a:t>
            </a:r>
            <a:r>
              <a:rPr lang="en-US" dirty="0">
                <a:latin typeface=""/>
              </a:rPr>
              <a:t>Nine-case Tier 1 sensitivity scope. Cheese Bank (tenth Tier 1 extension) not in the sensitivity grid.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L6:  </a:t>
            </a:r>
            <a:r>
              <a:rPr lang="en-US" dirty="0">
                <a:latin typeface=""/>
              </a:rPr>
              <a:t>Replay versus live evaluation. All results measured on retrospective historical replay, not live deployment.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L7:  </a:t>
            </a:r>
            <a:r>
              <a:rPr lang="en-US" dirty="0">
                <a:latin typeface=""/>
              </a:rPr>
              <a:t>Finite-window FPR and FBR. Every reported zero is a finite-replay observation, not an asymptotic guarantee.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Caveats line:  </a:t>
            </a:r>
            <a:r>
              <a:rPr lang="en-US" dirty="0">
                <a:latin typeface=""/>
              </a:rPr>
              <a:t>CALIBRATED, HYPOTHESIS, and finite-replay qualifiers are preserved on every catch-matrix and FPR sentence in the thesis.</a:t>
            </a:r>
            <a:endParaRPr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677672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32C4-EF62-0762-3353-D1A232F4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8D176B-822F-2BA1-8451-5B6B756A74C4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56508-F2FF-3ACD-07E4-64FA656E44A0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14AD0-79B6-0324-3DFD-B473506F8DD2}"/>
              </a:ext>
            </a:extLst>
          </p:cNvPr>
          <p:cNvSpPr txBox="1"/>
          <p:nvPr/>
        </p:nvSpPr>
        <p:spPr>
          <a:xfrm>
            <a:off x="4738921" y="411480"/>
            <a:ext cx="27142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12. Conclusion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B322A-1141-AA7D-4F87-196FE582394E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35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B0B79-8DD3-1164-A002-A00DD69367A5}"/>
              </a:ext>
            </a:extLst>
          </p:cNvPr>
          <p:cNvSpPr txBox="1"/>
          <p:nvPr/>
        </p:nvSpPr>
        <p:spPr>
          <a:xfrm>
            <a:off x="508275" y="1305945"/>
            <a:ext cx="10649720" cy="43622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C1.  CDG metric:  </a:t>
            </a:r>
            <a:r>
              <a:rPr lang="en-US" dirty="0">
                <a:latin typeface=""/>
              </a:rPr>
              <a:t>Per-case recall vector with five-bucket mechanism partition.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C2.  35-case corpus with explicit boundaries:  </a:t>
            </a:r>
            <a:r>
              <a:rPr lang="en-US" dirty="0">
                <a:latin typeface=""/>
              </a:rPr>
              <a:t>Tier 1 / Tier 2 split; causal-versus-symptomatic exclusion criterion.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C3.  </a:t>
            </a:r>
            <a:r>
              <a:rPr lang="en-US" b="1" dirty="0" err="1">
                <a:latin typeface=""/>
              </a:rPr>
              <a:t>GraphSignalGate</a:t>
            </a:r>
            <a:r>
              <a:rPr lang="en-US" b="1" dirty="0">
                <a:latin typeface=""/>
              </a:rPr>
              <a:t> as parameter-free containment:  </a:t>
            </a:r>
            <a:r>
              <a:rPr lang="en-US" dirty="0">
                <a:latin typeface=""/>
              </a:rPr>
              <a:t>5 of 12 catches at FBR = 0; Pareto-dominates </a:t>
            </a:r>
            <a:r>
              <a:rPr lang="en-US" dirty="0" err="1">
                <a:latin typeface=""/>
              </a:rPr>
              <a:t>deviation_only</a:t>
            </a:r>
            <a:r>
              <a:rPr lang="en-US" dirty="0">
                <a:latin typeface=""/>
              </a:rPr>
              <a:t> on two-axis comparison.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C4.  Layer D bridge surface:  </a:t>
            </a:r>
            <a:r>
              <a:rPr lang="en-US" dirty="0">
                <a:latin typeface=""/>
              </a:rPr>
              <a:t>Four-rule taxonomy CR-B1..CR-B4; Policy 3B-bridge-terminal.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C5.  Payload-embedding attack class:  </a:t>
            </a:r>
            <a:r>
              <a:rPr lang="en-US" dirty="0">
                <a:latin typeface=""/>
              </a:rPr>
              <a:t>Identified as a class on-chain selector-level rules cannot resolve in principle.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C6.  Annotation reliability evidence:  </a:t>
            </a:r>
            <a:r>
              <a:rPr lang="en-US" dirty="0">
                <a:latin typeface=""/>
              </a:rPr>
              <a:t>Cohen's </a:t>
            </a:r>
            <a:r>
              <a:rPr lang="el-GR" dirty="0">
                <a:latin typeface=""/>
              </a:rPr>
              <a:t>κ = 0.788 </a:t>
            </a:r>
            <a:r>
              <a:rPr lang="en-US" dirty="0">
                <a:latin typeface=""/>
              </a:rPr>
              <a:t>substantial agreement on </a:t>
            </a:r>
            <a:r>
              <a:rPr lang="en-US" dirty="0" err="1">
                <a:latin typeface=""/>
              </a:rPr>
              <a:t>attack_step_role</a:t>
            </a:r>
            <a:r>
              <a:rPr lang="en-US" dirty="0">
                <a:latin typeface=""/>
              </a:rPr>
              <a:t>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C7.  Authority gap as substantive finding:  </a:t>
            </a:r>
            <a:r>
              <a:rPr lang="en-US" dirty="0">
                <a:latin typeface=""/>
              </a:rPr>
              <a:t>Bridge containment authority absent on live deployments; closure is operational research.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Headline:  </a:t>
            </a:r>
            <a:r>
              <a:rPr lang="en-US" dirty="0">
                <a:latin typeface=""/>
              </a:rPr>
              <a:t>29 of 30 in-scope cases detected (96.67%, Wilson 95% CI [83.3, 99.4]) at zero observed false positives across 217,892 held-out decision units.</a:t>
            </a:r>
            <a:endParaRPr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88376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975F1-19DC-748A-8553-63EBE7AA5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463D92-9C13-328A-07BF-1E49F1741502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A67536-D8CA-6A28-2A45-0C8BADF99838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C7A96-B75D-8D3E-2A93-3E2BD49C26E5}"/>
              </a:ext>
            </a:extLst>
          </p:cNvPr>
          <p:cNvSpPr txBox="1"/>
          <p:nvPr/>
        </p:nvSpPr>
        <p:spPr>
          <a:xfrm>
            <a:off x="4659416" y="411480"/>
            <a:ext cx="28732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13. Future Work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C99F7-E39D-315C-EC08-7E4A0D56F026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36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22ACB-020A-BD2C-5CA9-160929EF2F61}"/>
              </a:ext>
            </a:extLst>
          </p:cNvPr>
          <p:cNvSpPr txBox="1"/>
          <p:nvPr/>
        </p:nvSpPr>
        <p:spPr>
          <a:xfrm>
            <a:off x="508275" y="1305945"/>
            <a:ext cx="10649720" cy="43109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Bifrost calibration for CR-B4:  </a:t>
            </a:r>
            <a:r>
              <a:rPr lang="en-US" dirty="0">
                <a:latin typeface=""/>
              </a:rPr>
              <a:t>(L2, L5)</a:t>
            </a:r>
          </a:p>
          <a:p>
            <a:pPr marL="685800" lvl="1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dirty="0">
                <a:latin typeface=""/>
              </a:rPr>
              <a:t>Collect contract addresses and a benign event-versus-trace ratio distribution at the granularity Dune supports. Move CR-B4 from HYPOTHESIS toward CALIBRATED. Re-run the sensitivity grid over the ten-case Tier 1 corpus including Cheese Bank.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Multi-pass labelling QA: </a:t>
            </a:r>
            <a:r>
              <a:rPr lang="en-US" dirty="0">
                <a:latin typeface=""/>
              </a:rPr>
              <a:t> (L1, L4)</a:t>
            </a:r>
          </a:p>
          <a:p>
            <a:pPr marL="685800" lvl="1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dirty="0">
                <a:latin typeface=""/>
              </a:rPr>
              <a:t>Replicate the labelling QA with two additional independent annotators, compute Fleiss kappa, and run the per-pass disagreement-pattern analysis at higher statistical power. Lift a subset of Tier 2 cases to Tier 1 reconstruction depth.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Live bridge testbed evaluation:  </a:t>
            </a:r>
            <a:r>
              <a:rPr lang="en-US" dirty="0">
                <a:latin typeface=""/>
              </a:rPr>
              <a:t>(L3, L6)</a:t>
            </a:r>
          </a:p>
          <a:p>
            <a:pPr marL="685800" lvl="1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dirty="0">
                <a:latin typeface=""/>
              </a:rPr>
              <a:t>Pair the simulator with one bridge fork on a controlled </a:t>
            </a:r>
            <a:r>
              <a:rPr lang="en-US" dirty="0" err="1">
                <a:latin typeface=""/>
              </a:rPr>
              <a:t>testnet</a:t>
            </a:r>
            <a:r>
              <a:rPr lang="en-US" dirty="0">
                <a:latin typeface=""/>
              </a:rPr>
              <a:t>. Execute the four containment actions on rule fire. Turn the authority-gap finding into a quantified observation rather than a counterfactual claim.</a:t>
            </a:r>
            <a:endParaRPr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718821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4315-F56A-BE82-0139-225C268B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795EBD-EC0E-C29B-5262-61B4376AE8E5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25201-ACC4-D1C6-C7F9-0D80D521CB0D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449EF-B3B4-4E67-ED00-CA50A2E09D80}"/>
              </a:ext>
            </a:extLst>
          </p:cNvPr>
          <p:cNvSpPr txBox="1"/>
          <p:nvPr/>
        </p:nvSpPr>
        <p:spPr>
          <a:xfrm>
            <a:off x="3999367" y="411480"/>
            <a:ext cx="41933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2800" dirty="0"/>
              <a:t>14. Thesis </a:t>
            </a:r>
            <a:r>
              <a:rPr lang="en-US" sz="2800" dirty="0" err="1"/>
              <a:t>Organisation</a:t>
            </a:r>
            <a:endParaRPr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418BA-72CB-C6E2-0D7D-F83FA48B7D9C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37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A45AAE-A34A-3330-DF2A-CC70CA8723D4}"/>
              </a:ext>
            </a:extLst>
          </p:cNvPr>
          <p:cNvSpPr txBox="1"/>
          <p:nvPr/>
        </p:nvSpPr>
        <p:spPr>
          <a:xfrm>
            <a:off x="522724" y="1222187"/>
            <a:ext cx="10649720" cy="5675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1  Introduction:  </a:t>
            </a:r>
            <a:r>
              <a:rPr lang="en-US" dirty="0">
                <a:latin typeface=""/>
              </a:rPr>
              <a:t>Problem context, approach overview, research questions, objectives, gaps, contributions, thesis </a:t>
            </a:r>
            <a:r>
              <a:rPr lang="en-US" dirty="0" err="1">
                <a:latin typeface=""/>
              </a:rPr>
              <a:t>organisation</a:t>
            </a:r>
            <a:r>
              <a:rPr lang="en-US" dirty="0">
                <a:latin typeface=""/>
              </a:rPr>
              <a:t>.</a:t>
            </a:r>
          </a:p>
          <a:p>
            <a:pPr lvl="0">
              <a:spcAft>
                <a:spcPts val="400"/>
              </a:spcAft>
              <a:buClr>
                <a:srgbClr val="6E6E6E"/>
              </a:buClr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2  Literature Review:  </a:t>
            </a:r>
            <a:r>
              <a:rPr lang="en-US" dirty="0">
                <a:latin typeface=""/>
              </a:rPr>
              <a:t>DeFi corpora, single-surface detectors, multi-surface and cross-domain, bridge security, containment, annotation reliability.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3  Methodology:</a:t>
            </a:r>
            <a:r>
              <a:rPr lang="en-US" dirty="0">
                <a:latin typeface=""/>
              </a:rPr>
              <a:t>  Corpus construction, event </a:t>
            </a:r>
            <a:r>
              <a:rPr lang="en-US" dirty="0" err="1">
                <a:latin typeface=""/>
              </a:rPr>
              <a:t>normalisation</a:t>
            </a:r>
            <a:r>
              <a:rPr lang="en-US" dirty="0">
                <a:latin typeface=""/>
              </a:rPr>
              <a:t>, Layer B rules, CDG metric, calibration discipline, </a:t>
            </a:r>
            <a:r>
              <a:rPr lang="en-US" dirty="0" err="1">
                <a:latin typeface=""/>
              </a:rPr>
              <a:t>GraphSignalGate</a:t>
            </a:r>
            <a:r>
              <a:rPr lang="en-US" dirty="0">
                <a:latin typeface=""/>
              </a:rPr>
              <a:t>, Layer D bridge surface, containment authority.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4  Results:  </a:t>
            </a:r>
            <a:r>
              <a:rPr lang="en-US" dirty="0">
                <a:latin typeface=""/>
              </a:rPr>
              <a:t>Detection rate, CDG matrices, Layer C catch matrix, Layer D catch matrix, cross-corpus FPR, combined coverage, lead-time and policy stability, boundary cases.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5  Conclusion:  </a:t>
            </a:r>
            <a:r>
              <a:rPr lang="en-US" dirty="0">
                <a:latin typeface=""/>
              </a:rPr>
              <a:t>Contributions revisited, seven limitations, three journal-extension targets.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r>
              <a:rPr lang="en-US" b="1" dirty="0">
                <a:latin typeface=""/>
              </a:rPr>
              <a:t>Chapter 6  Appendix:  </a:t>
            </a:r>
            <a:r>
              <a:rPr lang="en-US" dirty="0">
                <a:latin typeface=""/>
              </a:rPr>
              <a:t>Calibration tables, sample case packages and </a:t>
            </a:r>
            <a:r>
              <a:rPr lang="en-US" dirty="0" err="1">
                <a:latin typeface=""/>
              </a:rPr>
              <a:t>normalised</a:t>
            </a:r>
            <a:r>
              <a:rPr lang="en-US" dirty="0">
                <a:latin typeface=""/>
              </a:rPr>
              <a:t> event schema, labelling quality assurance, reproducibility paths, boundary case full narratives.</a:t>
            </a: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lang="en-US" dirty="0">
              <a:latin typeface=""/>
            </a:endParaRPr>
          </a:p>
          <a:p>
            <a:pPr marL="228600" lvl="0" indent="-228600">
              <a:spcAft>
                <a:spcPts val="400"/>
              </a:spcAft>
              <a:buClr>
                <a:srgbClr val="6E6E6E"/>
              </a:buClr>
              <a:buFont typeface="Arial"/>
              <a:buChar char="•"/>
            </a:pPr>
            <a:endParaRPr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965815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6117" y="411480"/>
            <a:ext cx="40597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References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38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208168"/>
            <a:ext cx="10728960" cy="4819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[1]  L. Zhou et al., "</a:t>
            </a:r>
            <a:r>
              <a:rPr lang="en-US" sz="1400" dirty="0" err="1"/>
              <a:t>SoK</a:t>
            </a:r>
            <a:r>
              <a:rPr lang="en-US" sz="1400" dirty="0"/>
              <a:t>: Decentralized Finance (DeFi) Attacks," IEEE S&amp;P, 2023.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[2]  N. Li et al., "Blockchain Cross-Chain Bridge Security: Challenges, Solutions, and Future Outlook," ACM DLT, 2025.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[3]  S. Wu et al., "</a:t>
            </a:r>
            <a:r>
              <a:rPr lang="en-US" sz="1400" dirty="0" err="1"/>
              <a:t>DeFiRanger</a:t>
            </a:r>
            <a:r>
              <a:rPr lang="en-US" sz="1400" dirty="0"/>
              <a:t>: Detecting Price Manipulation Attacks on DeFi Applications," IEEE TDSC, vol. 21, no. 4, 2024.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[4]  Q. Kong et al., "</a:t>
            </a:r>
            <a:r>
              <a:rPr lang="en-US" sz="1400" dirty="0" err="1"/>
              <a:t>DeFiTainter</a:t>
            </a:r>
            <a:r>
              <a:rPr lang="en-US" sz="1400" dirty="0"/>
              <a:t>: Detecting Price Manipulation Vulnerabilities in DeFi Protocols," ISSTA, 2023.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[5]  B. Wang et al., "</a:t>
            </a:r>
            <a:r>
              <a:rPr lang="en-US" sz="1400" dirty="0" err="1"/>
              <a:t>BlockEye</a:t>
            </a:r>
            <a:r>
              <a:rPr lang="en-US" sz="1400" dirty="0"/>
              <a:t>: Hunting for DeFi Attacks on Blockchain," ICSE Companion, 2021.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[6]  D. Meng et al., "HOUSTON: Real-time Anomaly Detection of Attacks against Ethereum DeFi Protocols," NDSS, 2026.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[7]  M. </a:t>
            </a:r>
            <a:r>
              <a:rPr lang="en-US" sz="1400" dirty="0" err="1"/>
              <a:t>Eshghie</a:t>
            </a:r>
            <a:r>
              <a:rPr lang="en-US" sz="1400" dirty="0"/>
              <a:t> et al., "</a:t>
            </a:r>
            <a:r>
              <a:rPr lang="en-US" sz="1400" dirty="0" err="1"/>
              <a:t>HighGuard</a:t>
            </a:r>
            <a:r>
              <a:rPr lang="en-US" sz="1400" dirty="0"/>
              <a:t>: Cross-Chain Business Logic Monitoring of Smart Contracts," ASE, 2024.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[8]  P. Daian et al., "Flash Boys 2.0: Frontrunning in Decentralized Exchanges, MEV, and Consensus Instability," IEEE S&amp;P, 2020.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[9]  CFTC, "Charges Avraham Eisenberg with Manipulation of MNGO Perpetual Swaps," Press Release 8647-23, 2023.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[10]  Wormhole Foundation, "Wormhole Incident Report: 2022-02-02," 2022.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66117" y="411480"/>
            <a:ext cx="40597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dirty="0"/>
              <a:t>1</a:t>
            </a:r>
            <a:r>
              <a:rPr lang="en-US" dirty="0"/>
              <a:t>5</a:t>
            </a:r>
            <a:r>
              <a:rPr dirty="0"/>
              <a:t>. References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39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173443"/>
            <a:ext cx="10728960" cy="3160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[11]  Nomad Foundation, "Nomad Bridge Incident: Post-mortem and Recovery," 2022.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[12]  J. Cohen, "A Coefficient of Agreement for Nominal Scales," Educational and Psychological Measurement, 1960.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[13]  J. R. Landis and G. G. Koch, "The Measurement of Observer Agreement for Categorical Data," Biometrics, 1977.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[14]  Inverse Finance, "INV Price Manipulation Incident Post-mortem," Medium, 2022.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[15]  Harvest Finance, "Harvest </a:t>
            </a:r>
            <a:r>
              <a:rPr lang="en-US" sz="1400" dirty="0" err="1"/>
              <a:t>Flashloan</a:t>
            </a:r>
            <a:r>
              <a:rPr lang="en-US" sz="1400" dirty="0"/>
              <a:t> Economic Attack Post-Mortem," Medium, 2020.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[16]  </a:t>
            </a:r>
            <a:r>
              <a:rPr lang="en-US" sz="1400" dirty="0" err="1"/>
              <a:t>PolyNetwork</a:t>
            </a:r>
            <a:r>
              <a:rPr lang="en-US" sz="1400" dirty="0"/>
              <a:t>, "</a:t>
            </a:r>
            <a:r>
              <a:rPr lang="en-US" sz="1400" dirty="0" err="1"/>
              <a:t>PolyNetwork</a:t>
            </a:r>
            <a:r>
              <a:rPr lang="en-US" sz="1400" dirty="0"/>
              <a:t> Cross-Chain Bridge Incident Report," 2021.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endParaRPr lang="en-US" sz="1400" dirty="0"/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 i="0">
                <a:latin typeface="Open Sans"/>
              </a:defRPr>
            </a:pPr>
            <a:r>
              <a:rPr lang="en-US" sz="1400" dirty="0"/>
              <a:t>[17]  </a:t>
            </a:r>
            <a:r>
              <a:rPr lang="en-US" sz="1400" dirty="0" err="1"/>
              <a:t>THORChain</a:t>
            </a:r>
            <a:r>
              <a:rPr lang="en-US" sz="1400" dirty="0"/>
              <a:t>, "</a:t>
            </a:r>
            <a:r>
              <a:rPr lang="en-US" sz="1400" dirty="0" err="1"/>
              <a:t>THORChain</a:t>
            </a:r>
            <a:r>
              <a:rPr lang="en-US" sz="1400" dirty="0"/>
              <a:t> Bifrost Incident Analyses (July 2021)," 2021.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0086-6DEE-2F1B-26C9-A17E2E18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973C72-189F-EA28-1F6B-DF8CE934C7BA}"/>
              </a:ext>
            </a:extLst>
          </p:cNvPr>
          <p:cNvSpPr/>
          <p:nvPr/>
        </p:nvSpPr>
        <p:spPr>
          <a:xfrm>
            <a:off x="137160" y="137160"/>
            <a:ext cx="11917680" cy="65836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90B8E-7A7E-06B4-10FE-02435F1C5493}"/>
              </a:ext>
            </a:extLst>
          </p:cNvPr>
          <p:cNvSpPr/>
          <p:nvPr/>
        </p:nvSpPr>
        <p:spPr>
          <a:xfrm>
            <a:off x="256032" y="256032"/>
            <a:ext cx="11679936" cy="634593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1773E-5CC7-3352-0212-92F7B2AB54BC}"/>
              </a:ext>
            </a:extLst>
          </p:cNvPr>
          <p:cNvSpPr txBox="1"/>
          <p:nvPr/>
        </p:nvSpPr>
        <p:spPr>
          <a:xfrm>
            <a:off x="2802469" y="2767280"/>
            <a:ext cx="658706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Helvetica Neue"/>
              </a:defRPr>
            </a:pPr>
            <a:r>
              <a:rPr lang="en-US" sz="8000" dirty="0"/>
              <a:t>THANK YOU!</a:t>
            </a:r>
            <a:endParaRPr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68891-E73F-FA63-DF53-DA6A86C3117B}"/>
              </a:ext>
            </a:extLst>
          </p:cNvPr>
          <p:cNvSpPr txBox="1"/>
          <p:nvPr/>
        </p:nvSpPr>
        <p:spPr>
          <a:xfrm>
            <a:off x="11291316" y="6249924"/>
            <a:ext cx="3609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latin typeface="Open Sans"/>
              </a:defRPr>
            </a:pPr>
            <a:r>
              <a:rPr lang="en-US" dirty="0"/>
              <a:t>40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076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5793</Words>
  <Application>Microsoft Macintosh PowerPoint</Application>
  <PresentationFormat>Widescreen</PresentationFormat>
  <Paragraphs>587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Arial</vt:lpstr>
      <vt:lpstr>Calibri</vt:lpstr>
      <vt:lpstr>Cambria</vt:lpstr>
      <vt:lpstr>Helvetica Neue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Nishad</cp:lastModifiedBy>
  <cp:revision>248</cp:revision>
  <dcterms:created xsi:type="dcterms:W3CDTF">2013-01-27T09:14:16Z</dcterms:created>
  <dcterms:modified xsi:type="dcterms:W3CDTF">2026-05-12T03:10:55Z</dcterms:modified>
  <cp:category/>
</cp:coreProperties>
</file>